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fc9d0e3b3d4bed" /><Relationship Type="http://schemas.openxmlformats.org/officeDocument/2006/relationships/extended-properties" Target="/docProps/app.xml" Id="Rabc6091a594a4af5" /><Relationship Type="http://schemas.openxmlformats.org/officeDocument/2006/relationships/officeDocument" Target="/ppt/presentation.xml" Id="Re3a36da5b3384e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45fe95b419467b"/>
  </p:sldMasterIdLst>
  <p:notesMasterIdLst>
    <p:notesMasterId xmlns:r="http://schemas.openxmlformats.org/officeDocument/2006/relationships" r:id="Rbf9a5b707f5546fc"/>
  </p:notesMasterIdLst>
  <p:sldIdLst>
    <p:sldId xmlns:r="http://schemas.openxmlformats.org/officeDocument/2006/relationships" id="256" r:id="R1221d211a14f4937"/>
    <p:sldId xmlns:r="http://schemas.openxmlformats.org/officeDocument/2006/relationships" id="257" r:id="R79e2c6aa6409499f"/>
    <p:sldId xmlns:r="http://schemas.openxmlformats.org/officeDocument/2006/relationships" id="258" r:id="Ra2a55ca28f534a26"/>
    <p:sldId xmlns:r="http://schemas.openxmlformats.org/officeDocument/2006/relationships" id="259" r:id="R789310910e614953"/>
    <p:sldId xmlns:r="http://schemas.openxmlformats.org/officeDocument/2006/relationships" id="260" r:id="R8ba1940b5ff14ecb"/>
    <p:sldId xmlns:r="http://schemas.openxmlformats.org/officeDocument/2006/relationships" id="261" r:id="R7c607fa5625b49b0"/>
    <p:sldId xmlns:r="http://schemas.openxmlformats.org/officeDocument/2006/relationships" id="262" r:id="R4a504f11d53c4281"/>
    <p:sldId xmlns:r="http://schemas.openxmlformats.org/officeDocument/2006/relationships" id="263" r:id="R41a4282c7ebc432b"/>
    <p:sldId xmlns:r="http://schemas.openxmlformats.org/officeDocument/2006/relationships" id="264" r:id="Rd26b5a4fe8c145e8"/>
    <p:sldId xmlns:r="http://schemas.openxmlformats.org/officeDocument/2006/relationships" id="265" r:id="R249af9d1784b430f"/>
    <p:sldId xmlns:r="http://schemas.openxmlformats.org/officeDocument/2006/relationships" id="266" r:id="R9e3b1cf8056f4583"/>
    <p:sldId xmlns:r="http://schemas.openxmlformats.org/officeDocument/2006/relationships" id="267" r:id="R3c6bddd6508945dd"/>
    <p:sldId xmlns:r="http://schemas.openxmlformats.org/officeDocument/2006/relationships" id="268" r:id="R10c8c23b0f694004"/>
    <p:sldId xmlns:r="http://schemas.openxmlformats.org/officeDocument/2006/relationships" id="269" r:id="R3cd6e88b8618469f"/>
    <p:sldId xmlns:r="http://schemas.openxmlformats.org/officeDocument/2006/relationships" id="270" r:id="R2eb6bb261bde406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f161832bc742a4" /><Relationship Type="http://schemas.openxmlformats.org/officeDocument/2006/relationships/slideMaster" Target="/ppt/slideMasters/slideMaster1.xml" Id="Rb445fe95b419467b" /><Relationship Type="http://schemas.openxmlformats.org/officeDocument/2006/relationships/notesMaster" Target="/ppt/notesMasters/notesMaster1.xml" Id="Rbf9a5b707f5546fc" /><Relationship Type="http://schemas.openxmlformats.org/officeDocument/2006/relationships/presProps" Target="/ppt/presProps.xml" Id="Ra6e27e07efcd465d" /><Relationship Type="http://schemas.openxmlformats.org/officeDocument/2006/relationships/tableStyles" Target="/ppt/tableStyles.xml" Id="R525c405443db4ac0" /><Relationship Type="http://schemas.openxmlformats.org/officeDocument/2006/relationships/slide" Target="/ppt/slides/slide1.xml" Id="R1221d211a14f4937" /><Relationship Type="http://schemas.openxmlformats.org/officeDocument/2006/relationships/slide" Target="/ppt/slides/slide2.xml" Id="R79e2c6aa6409499f" /><Relationship Type="http://schemas.openxmlformats.org/officeDocument/2006/relationships/slide" Target="/ppt/slides/slide3.xml" Id="Ra2a55ca28f534a26" /><Relationship Type="http://schemas.openxmlformats.org/officeDocument/2006/relationships/slide" Target="/ppt/slides/slide4.xml" Id="R789310910e614953" /><Relationship Type="http://schemas.openxmlformats.org/officeDocument/2006/relationships/slide" Target="/ppt/slides/slide5.xml" Id="R8ba1940b5ff14ecb" /><Relationship Type="http://schemas.openxmlformats.org/officeDocument/2006/relationships/slide" Target="/ppt/slides/slide6.xml" Id="R7c607fa5625b49b0" /><Relationship Type="http://schemas.openxmlformats.org/officeDocument/2006/relationships/slide" Target="/ppt/slides/slide7.xml" Id="R4a504f11d53c4281" /><Relationship Type="http://schemas.openxmlformats.org/officeDocument/2006/relationships/slide" Target="/ppt/slides/slide8.xml" Id="R41a4282c7ebc432b" /><Relationship Type="http://schemas.openxmlformats.org/officeDocument/2006/relationships/slide" Target="/ppt/slides/slide9.xml" Id="Rd26b5a4fe8c145e8" /><Relationship Type="http://schemas.openxmlformats.org/officeDocument/2006/relationships/slide" Target="/ppt/slides/slide10.xml" Id="R249af9d1784b430f" /><Relationship Type="http://schemas.openxmlformats.org/officeDocument/2006/relationships/slide" Target="/ppt/slides/slide11.xml" Id="R9e3b1cf8056f4583" /><Relationship Type="http://schemas.openxmlformats.org/officeDocument/2006/relationships/slide" Target="/ppt/slides/slide12.xml" Id="R3c6bddd6508945dd" /><Relationship Type="http://schemas.openxmlformats.org/officeDocument/2006/relationships/slide" Target="/ppt/slides/slide13.xml" Id="R10c8c23b0f694004" /><Relationship Type="http://schemas.openxmlformats.org/officeDocument/2006/relationships/slide" Target="/ppt/slides/slide14.xml" Id="R3cd6e88b8618469f" /><Relationship Type="http://schemas.openxmlformats.org/officeDocument/2006/relationships/slide" Target="/ppt/slides/slide15.xml" Id="R2eb6bb261bde40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b31830098a45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038cb2333e4643" /><Relationship Type="http://schemas.openxmlformats.org/officeDocument/2006/relationships/notesMaster" Target="/ppt/notesMasters/notesMaster1.xml" Id="Rbccc42d6742040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7696be2341415c" /><Relationship Type="http://schemas.openxmlformats.org/officeDocument/2006/relationships/notesMaster" Target="/ppt/notesMasters/notesMaster1.xml" Id="R8b6644b713a942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41908b6e824284" /><Relationship Type="http://schemas.openxmlformats.org/officeDocument/2006/relationships/notesMaster" Target="/ppt/notesMasters/notesMaster1.xml" Id="R00e1998601c04d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55de4867024831" /><Relationship Type="http://schemas.openxmlformats.org/officeDocument/2006/relationships/notesMaster" Target="/ppt/notesMasters/notesMaster1.xml" Id="Rfa5edb34030d41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5318331a7d4d93" /><Relationship Type="http://schemas.openxmlformats.org/officeDocument/2006/relationships/notesMaster" Target="/ppt/notesMasters/notesMaster1.xml" Id="R16058fc04be14a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9d334a9de24d6d" /><Relationship Type="http://schemas.openxmlformats.org/officeDocument/2006/relationships/notesMaster" Target="/ppt/notesMasters/notesMaster1.xml" Id="R5544a0570e0343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e281667b2746a0" /><Relationship Type="http://schemas.openxmlformats.org/officeDocument/2006/relationships/notesMaster" Target="/ppt/notesMasters/notesMaster1.xml" Id="Rf8c5f6a6bcd3493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0f212b9fe74d33" /><Relationship Type="http://schemas.openxmlformats.org/officeDocument/2006/relationships/notesMaster" Target="/ppt/notesMasters/notesMaster1.xml" Id="R923ffdd307b44d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45c7b121094488" /><Relationship Type="http://schemas.openxmlformats.org/officeDocument/2006/relationships/notesMaster" Target="/ppt/notesMasters/notesMaster1.xml" Id="Rc4b11e894ca34f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5d831ca7e849d9" /><Relationship Type="http://schemas.openxmlformats.org/officeDocument/2006/relationships/notesMaster" Target="/ppt/notesMasters/notesMaster1.xml" Id="R15497fbc8a4846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79c7e30b194606" /><Relationship Type="http://schemas.openxmlformats.org/officeDocument/2006/relationships/notesMaster" Target="/ppt/notesMasters/notesMaster1.xml" Id="R2ef19204358e4d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8d03bcba5a4255" /><Relationship Type="http://schemas.openxmlformats.org/officeDocument/2006/relationships/notesMaster" Target="/ppt/notesMasters/notesMaster1.xml" Id="R660b2f415be544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0a8ddda926a4022" /><Relationship Type="http://schemas.openxmlformats.org/officeDocument/2006/relationships/notesMaster" Target="/ppt/notesMasters/notesMaster1.xml" Id="Rcc50382d7258425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cfc9c9fcd740bb" /><Relationship Type="http://schemas.openxmlformats.org/officeDocument/2006/relationships/notesMaster" Target="/ppt/notesMasters/notesMaster1.xml" Id="R4ae26fb331d042b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756a9df80d4561" /><Relationship Type="http://schemas.openxmlformats.org/officeDocument/2006/relationships/notesMaster" Target="/ppt/notesMasters/notesMaster1.xml" Id="R9cb9b9cf535f40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命题05原文面向一般职教学生与企业。产品定位按用户要求采用通用岗位表述；当前种子岗位及部分提示词为智驾、三电。未声称已完成跨行业验证。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第1–2页背景、核心问题与预期成果。下列成效是目标与产品作用，不是统计效果。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server/api/jobs.py、sessions.py、reports.py、growth.py、recruiter.py 与 counsel.py。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server/services/counsel.py 与 data 中咨询静态资源；咨询输出岗位地图、差距、年级学习路径及训练入口。示例为使用情境，不是用户实测。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server/services/jd_parse.py；server/api/jobs.py:229–384。JD解析先返回草案，题库可增删改；JD评估建议与候选排序权重区别于固定正式评分字段。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web/app/page.tsx；server/api/sessions.py；server/services/orchestrator.py。真实界面截图若显示岗位样例，不代表行业范围限制。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web/lib/recorder.ts；server/services/audio.py、asr.py、tts.py、scoring.py。声学特征取采集时长、停顿计数与填充词，不使用ASR词级时间戳。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server/services/scoring.py；回答例句引用 docs/test-answers/05-course-project.md 虚构样本05；解释与建议是说明示例，非实测评分输出。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server/services/growth.py；docs/growth-tracking-spec.md。比较要求输入模式、评分口径、有效维度可比。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server/services/recruiter.py；server/api/recruiter.py。候选数据联查 Session、Report、User；缺维资格、权重重归一化及口径隔离。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 PDF 项目端预期成果；server/models.py 的users/jobs/questions/sessions/answers/reports关系；企业与成长服务。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web/package.json；requirements.txt；server/main.py；server/services/llm.py；server/models.py。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server/services/llm.py timeout与budget；orchestrator.py失败进入下一题；scoring.py双评及原文证据校验；模型名称URL通过配置。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命题05预期成果与AGENTS部署范围。使用价值为产品机制与预期作用，未声称已有成本/就业率改善实测。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命题05学生端、企业端、项目端目标总结。不含下一步行动，不以未获得的实测数值宣称成效。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9c2704064446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c8329592e442e0" /><Relationship Type="http://schemas.openxmlformats.org/officeDocument/2006/relationships/slideLayout" Target="/ppt/slideLayouts/slideLayout1.xml" Id="R3060cd1fe6714f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60cd1fe6714f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c52fbfdec4cd8" /><Relationship Type="http://schemas.openxmlformats.org/officeDocument/2006/relationships/image" Target="/ppt/media/image.jpeg" Id="R3d085166601b499e" /><Relationship Type="http://schemas.openxmlformats.org/officeDocument/2006/relationships/notesSlide" Target="/ppt/notesSlides/notesSlide1.xml" Id="R1942169d4c974a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d56432fdb43a0" /><Relationship Type="http://schemas.openxmlformats.org/officeDocument/2006/relationships/image" Target="/ppt/media/image2.jpeg" Id="Re0684b7f945b4579" /><Relationship Type="http://schemas.openxmlformats.org/officeDocument/2006/relationships/notesSlide" Target="/ppt/notesSlides/notesSlide2.xml" Id="R18929eb80c0348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49c1d96244a24" /><Relationship Type="http://schemas.openxmlformats.org/officeDocument/2006/relationships/image" Target="/ppt/media/image3.jpeg" Id="R50da4788e70844f4" /><Relationship Type="http://schemas.openxmlformats.org/officeDocument/2006/relationships/notesSlide" Target="/ppt/notesSlides/notesSlide3.xml" Id="R474977f0fc9f48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51b1d235040f5" /><Relationship Type="http://schemas.openxmlformats.org/officeDocument/2006/relationships/image" Target="/ppt/media/image4.jpeg" Id="Rf75e22c97d2e421c" /><Relationship Type="http://schemas.openxmlformats.org/officeDocument/2006/relationships/notesSlide" Target="/ppt/notesSlides/notesSlide4.xml" Id="R7b7c3030f86947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e084ccb1c4220" /><Relationship Type="http://schemas.openxmlformats.org/officeDocument/2006/relationships/image" Target="/ppt/media/image5.jpeg" Id="R8f9efe92d2c24a64" /><Relationship Type="http://schemas.openxmlformats.org/officeDocument/2006/relationships/notesSlide" Target="/ppt/notesSlides/notesSlide5.xml" Id="Rc0011400e39d41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392995afd4063" /><Relationship Type="http://schemas.openxmlformats.org/officeDocument/2006/relationships/image" Target="/ppt/media/image6.jpeg" Id="Rd796460f32f74ed7" /><Relationship Type="http://schemas.openxmlformats.org/officeDocument/2006/relationships/notesSlide" Target="/ppt/notesSlides/notesSlide6.xml" Id="R71838b0f75664e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241bb62664b08" /><Relationship Type="http://schemas.openxmlformats.org/officeDocument/2006/relationships/image" Target="/ppt/media/image7.jpeg" Id="R4e6d2772cca2478b" /><Relationship Type="http://schemas.openxmlformats.org/officeDocument/2006/relationships/notesSlide" Target="/ppt/notesSlides/notesSlide7.xml" Id="R08b2d83ecc1847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50c1b3806b41b7" /><Relationship Type="http://schemas.openxmlformats.org/officeDocument/2006/relationships/image" Target="/ppt/media/image8.jpeg" Id="R9744413041e04d2b" /><Relationship Type="http://schemas.openxmlformats.org/officeDocument/2006/relationships/notesSlide" Target="/ppt/notesSlides/notesSlide8.xml" Id="R436907991f164e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9d88506cd4ef5" /><Relationship Type="http://schemas.openxmlformats.org/officeDocument/2006/relationships/image" Target="/ppt/media/image9.jpeg" Id="R035ced1dea39428c" /><Relationship Type="http://schemas.openxmlformats.org/officeDocument/2006/relationships/notesSlide" Target="/ppt/notesSlides/notesSlide9.xml" Id="R381078c68c574d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93f642dc44463" /><Relationship Type="http://schemas.openxmlformats.org/officeDocument/2006/relationships/image" Target="/ppt/media/image10.jpeg" Id="R85a429ff41d74566" /><Relationship Type="http://schemas.openxmlformats.org/officeDocument/2006/relationships/notesSlide" Target="/ppt/notesSlides/notesSlide10.xml" Id="Rdcd5a3edc7d846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506b3cd6e4460" /><Relationship Type="http://schemas.openxmlformats.org/officeDocument/2006/relationships/image" Target="/ppt/media/image11.jpeg" Id="Rba139bed664a4d68" /><Relationship Type="http://schemas.openxmlformats.org/officeDocument/2006/relationships/notesSlide" Target="/ppt/notesSlides/notesSlide11.xml" Id="R25485457e77b44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542c706fc4dd8" /><Relationship Type="http://schemas.openxmlformats.org/officeDocument/2006/relationships/image" Target="/ppt/media/image12.jpeg" Id="Re73ccd5368234670" /><Relationship Type="http://schemas.openxmlformats.org/officeDocument/2006/relationships/notesSlide" Target="/ppt/notesSlides/notesSlide12.xml" Id="Rbf393621ac434b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3bc470d98472e" /><Relationship Type="http://schemas.openxmlformats.org/officeDocument/2006/relationships/image" Target="/ppt/media/image13.jpeg" Id="Ra3c041212f464ce5" /><Relationship Type="http://schemas.openxmlformats.org/officeDocument/2006/relationships/notesSlide" Target="/ppt/notesSlides/notesSlide13.xml" Id="R03284f78324346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822ba1a67343aa" /><Relationship Type="http://schemas.openxmlformats.org/officeDocument/2006/relationships/image" Target="/ppt/media/image14.jpeg" Id="R2fd441696c484ced" /><Relationship Type="http://schemas.openxmlformats.org/officeDocument/2006/relationships/notesSlide" Target="/ppt/notesSlides/notesSlide14.xml" Id="R374e22f45d7c4b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bc25309f64272" /><Relationship Type="http://schemas.openxmlformats.org/officeDocument/2006/relationships/image" Target="/ppt/media/image15.jpeg" Id="R87319da73b5f49c0" /><Relationship Type="http://schemas.openxmlformats.org/officeDocument/2006/relationships/notesSlide" Target="/ppt/notesSlides/notesSlide15.xml" Id="R5f1d4cda0d9248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85166601b499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75B03-E9E3-49B3-8D81-0D660532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800100"/>
            <a:ext cx="27527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B782-AE14-41B8-BCAB-A649436F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47725"/>
            <a:ext cx="2466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80479-A1A2-46A7-A94D-08B29DA4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智驾未来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9CA35-820B-4FE5-9054-C7344003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AI面试仓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6447-05C2-429D-A465-00C2B908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0001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面向岗位需求的面试训练与人才初筛平台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8B619-2472-44C7-9623-2BF4119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 · 模拟面试 · 评分反馈 · 成长追踪 · 企业初筛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D2B3D-F4AC-4AE2-B305-A58B548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695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项目验收汇报</a:t>
            </a:r>
          </a:p>
        </p:txBody>
      </p:sp>
    </p:spTree>
    <p:extLst>
      <p:ext uri="{BB962C8B-B14F-4D97-AF65-F5344CB8AC3E}">
        <p14:creationId xmlns:p14="http://schemas.microsoft.com/office/powerpoint/2010/main" val="13714967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84b7f945b457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66F79-A999-41A6-A763-2CD00053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8251-9682-425D-9756-8763F2FC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8222B-FB5C-44FA-B11E-9E6B325E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命题要求：让训练成果服务学生与企业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0E94D-4A39-45CE-9563-EDADC84A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788EC-36E9-49BD-A755-3EFEC57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E010-41FA-47E4-9249-89DCA409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669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12AFE-805C-47A3-A49C-16FBBD5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859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新生缺少职业认知，毕业生缺少面试练习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AF874-F48F-4106-AF9B-1D7E9060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4860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先了解岗位要求，再通过模拟问答获得反馈；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保留训练历史，帮助学生有针对性地练习。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DF2D10-7959-47B3-9C5B-C693A91D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992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71D37-D15A-40D2-8EC5-9EDE181F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26F21-9DDA-425E-97CB-2CB29C17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242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仅凭简历难以看清岗位能力与表达表现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AFCC8-EC3A-46CA-97D2-E78DE83C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2427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围绕岗位要求建立题库与考察重点；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结合训练报告比较候选人，并追溯回答依据。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F6632-195D-454A-A3AA-49AFF8C5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10620375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42E5C-D7FC-4B7E-9252-8178FBB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138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项目端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EBB9C-1D05-46F0-BB49-2D64868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5624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学生训练与企业筛选缺少衔接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A4BF45-EC2A-462D-9772-8F84BF3D4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62525"/>
            <a:ext cx="838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将岗位、题目、会话和报告连接起来；</a:t>
            </a:r>
          </a:p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形成可在学校或局域网落地的面试仓方案。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1D75CB-AC49-4024-84F5-223FE9F9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核心目标：学生知道如何改进，企业知道筛选依据来自哪里。</a:t>
            </a:r>
          </a:p>
        </p:txBody>
      </p:sp>
    </p:spTree>
    <p:extLst>
      <p:ext uri="{BB962C8B-B14F-4D97-AF65-F5344CB8AC3E}">
        <p14:creationId xmlns:p14="http://schemas.microsoft.com/office/powerpoint/2010/main" val="1486018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a4788e70844f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F1655-4F24-4EBD-A2F5-575EEE9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DC0E4-BF5E-4B5C-8C2E-4EDBD7F7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1C587-29EF-47CA-BCED-9925136B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平台流程：从岗位要求到训练反馈与初筛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9AF23-295A-4E4E-9A82-19F4E41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F2DF2-A28C-4B91-BDBC-10C9559B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8AC3A-5F34-42B7-A2EB-32773B1C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ECB6E-1356-43D0-8B39-6DE014ED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65078-D19D-4634-9642-9B183D9A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E2A0A-64D3-43A8-98F8-1E6EF354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0D201-B8F8-4334-BD94-0815C8EC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0B257-AAA4-41B2-AC58-F125F00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7F7AB-12CD-4D26-89E4-967D122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E158C-7DEE-40E9-B579-FF261DF4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CF43E-1BF3-42CC-B4AF-88D96ABA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FB095-838F-4401-8879-8926B116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92B37-8313-441D-96A5-7A8985C3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DD8C5-774D-4D53-A4C9-E070927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DF9612-A144-43DB-A61F-C30E3F84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0127C-B08E-49B2-A4B4-AC6550032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241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52995E-30A5-40E7-B6B3-D1D5C044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62200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5D96C-E01D-419C-8466-D42C4237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669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9BC9E3-6393-4284-837C-0973E443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1621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8950D2-43F3-454D-9E2E-B57A849C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7B54A-0B8A-4AEE-B34E-E8667430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学生如何使用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BAA6AD-59F1-4F37-9E0B-A07CD290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新生先做职业咨询，找到适合的训练岗位。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每题回答后查看问题分析和改进建议；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再次训练后，可回看同岗位的历史变化。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777348-B9E0-420E-B6DA-8B8E8980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00425"/>
            <a:ext cx="5095875" cy="2181225"/>
          </a:xfrm>
          <a:prstGeom xmlns:a="http://schemas.openxmlformats.org/drawingml/2006/main" prst="roundRect">
            <a:avLst>
              <a:gd name="adj" fmla="val 349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CA1F8-F320-431E-865F-7398980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718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企业与项目如何衔接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535E-5906-45EA-94C3-DBF29671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05275"/>
            <a:ext cx="463867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候选数据来自已完成的训练报告；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点击候选项，可回到原会话与报告核对。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583103-9EC6-4DB4-B9C3-E6F3DFF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学生复盘与企业初筛使用同一份训练报告，候选记录可追溯到真实会话。</a:t>
            </a:r>
          </a:p>
        </p:txBody>
      </p:sp>
    </p:spTree>
    <p:extLst>
      <p:ext uri="{BB962C8B-B14F-4D97-AF65-F5344CB8AC3E}">
        <p14:creationId xmlns:p14="http://schemas.microsoft.com/office/powerpoint/2010/main" val="13973119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e22c97d2e421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B5ACA-887F-4851-B474-D9F78840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CF50B-D637-40FE-83AB-74143FB0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B1DA4-9E53-471C-B604-1F4852CE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新生咨询：把“学什么”连接到“做什么”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97EFF-0FCE-4A9A-B570-8D6F380E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23AA6-AC73-488F-B31D-E4E49EF0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619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BB369-CAC9-4A07-A3BB-F63BC407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3162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输入：学生基本情况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1C9B-A79C-473C-AE29-2B6DB69F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3162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选择专业、年级与兴趣，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说明当前关注的工作方向。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示例：一年级，喜欢动手测试，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希望了解技术类岗位。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3DA53A-48FB-4807-A733-ECB232E1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52625"/>
            <a:ext cx="66675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FFFAA-91BE-4814-ACAE-7BD8CA54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输出：岗位地图、学习路径与面试准备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29278-0C42-4860-8A05-E46A1BD7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657475"/>
            <a:ext cx="62103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岗位地图：了解典型任务、岗位要求和推荐理由。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能力差距：对照现有基础，找出建议补的知识与工具。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学习路径示例：打基础 → 学工具 → 做项目 → 岗位训练。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面试学习菜单：题意理解、自我介绍、STAR经历题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（情境、任务、行动、结果）、追问应答和面试反问。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训练入口：从推荐岗位进入模拟面试。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BE164-BBD4-4CA8-B664-2A70487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咨询用于认知与规划；只有进入面试并完成训练后，才生成评分报告。</a:t>
            </a:r>
          </a:p>
        </p:txBody>
      </p:sp>
    </p:spTree>
    <p:extLst>
      <p:ext uri="{BB962C8B-B14F-4D97-AF65-F5344CB8AC3E}">
        <p14:creationId xmlns:p14="http://schemas.microsoft.com/office/powerpoint/2010/main" val="13540041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efe92d2c24a6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AB997-B039-409E-8D7A-9BBDEA10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7913D-532A-4E63-AE99-B38B065F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E7AEF-367F-4F34-BA28-530BA512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岗位配置：将招聘要求整理为可维护的题库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6FFF2-F81F-4B82-9C71-CA81D16F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4E1B7-AC77-45F8-A2EC-0CB10564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FEF84-2AAA-456D-B18D-F40F3CBD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输入岗位描述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262E6D-5A41-4F03-A121-890130C5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C0C22-A966-4EBE-BAF4-7B76C063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DE14F-F852-46E7-9563-3DEB23AC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6F0-9AAB-40FB-919C-A64B8595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生成配置草案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8F172-6F8C-4F68-9C24-03A3E485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AFC88-B204-4E0D-BB9D-369BA1F4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9A4B1-9B1F-4920-80E1-91E35C60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2C0087-0DE5-43C0-BDC9-A67D9429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检查并维护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5D884-3BC8-4521-A8B3-CB30D43A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18E23-77BC-48F5-95B5-2EC4B368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1BF66-9CB3-4763-AA76-E1F01586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C87A5-DAA9-43EF-B243-6F80C5F2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用于岗位训练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F487DF-A51B-4CF1-A54F-E2765CA9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2FB76-0D89-415D-BBDB-8A0B43F6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首期岗位：智驾测试 / 三电系统测试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09841-97C6-4FCA-8259-63FEB7E9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岗位要求：能设计用例、记录并复现缺陷。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题目示例：“问题偶发时，你如何定位？”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考察重点：排查步骤、证据记录与风险意识。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企业可维护题目，并调整岗位评价重点。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EF486B-6935-49FB-A62D-BB57B2F4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B2BAD-3D39-4096-A7C4-D5B40C96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如何落到一场训练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5E3DA-4C99-4C29-975C-074C259D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学生选择岗位后，系统读取该岗位题库。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问答围绕岗位任务展开，避免泛泛提问。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完成后生成报告，并纳入该岗位候选比较。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企业可回到原报告核对具体表现。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66F7A2-665A-4877-9B1B-112F5B56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可维护的是题库内容、岗位评估建议与初筛权重；题目不会只靠固定文案展示。</a:t>
            </a:r>
          </a:p>
        </p:txBody>
      </p:sp>
    </p:spTree>
    <p:extLst>
      <p:ext uri="{BB962C8B-B14F-4D97-AF65-F5344CB8AC3E}">
        <p14:creationId xmlns:p14="http://schemas.microsoft.com/office/powerpoint/2010/main" val="11421605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6460f32f74ed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6BF19-7C62-42C2-8AE5-915C2547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A129-627B-4A02-915F-6592CDFE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35392-F1E0-45CA-9501-C87464D9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学生面试：六题训练与逐题即时反馈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43128-E0EE-4696-BC7E-D1DFD79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520A3-2EA8-4F2C-B827-01FA1625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6667500" cy="3762375"/>
          </a:xfrm>
          <a:prstGeom xmlns:a="http://schemas.openxmlformats.org/drawingml/2006/main" prst="roundRect">
            <a:avLst>
              <a:gd name="adj" fmla="val 2025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E9FFC-D1CF-42F5-9971-8616B3C5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621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一轮训练的操作路径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EDA79-BD71-4ECA-8EEB-896CEFCC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6210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选择学生与岗位 → 完成设备自检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回答六道主问题：通用2题、专业3题、情景1题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语音或文字作答；一场会话固定使用一种输入方式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每答一题，立即看本题练习分（或未评分）、问题分析、原话依据和改进建议；去学习后返回继续。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81AF-5219-48AA-B593-B6A5E6C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383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服务端管理训练进度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4B7A1-3967-4CE6-B4F9-C4999AEA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581275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服务端保存当前题目和已提交回答；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刷新页面后可以恢复训练，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不依赖浏览器临时状态。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2AEF6-4DE2-4CC0-A79E-BA185412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886200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追问由服务端判断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362BB-5896-435A-9E98-949D720D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438650"/>
            <a:ext cx="34766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每题最多追问一次，结合本题、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岗位提示和回答决定是否追问；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判断失败时直接进入下一题。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96781-08A4-4D85-90EC-C648EC0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提交期间锁定按钮；结果不明时先确认状态，不自动重发，避免重复推进。</a:t>
            </a:r>
          </a:p>
        </p:txBody>
      </p:sp>
    </p:spTree>
    <p:extLst>
      <p:ext uri="{BB962C8B-B14F-4D97-AF65-F5344CB8AC3E}">
        <p14:creationId xmlns:p14="http://schemas.microsoft.com/office/powerpoint/2010/main" val="13468832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d2772cca2478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023A5-E63F-4B90-A263-424A3C79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C72C8-4A60-4873-9260-836A980D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FFC6B-E755-4562-BE96-7DF46071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语音链路：既理解回答，也分析表达方式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A4F62-2EDE-4BDC-B514-D508922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87982-89F8-498F-99F6-992FEFF9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EFB6A-AFDD-4F14-A6E8-BB1B713E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浏览器录音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AC673-512A-47F7-B46B-502DA75E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28DC1F-0BC8-403C-8CF3-43C8B3C5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828ABD-C9EF-436D-BA5C-88B5208E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9D489-151C-4551-9DE0-CBC98E13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音频转码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CE87C-B91F-406E-9745-13747121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73CF5A-D117-4075-BF3B-31B2F25A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26FA82-EF2E-4603-B22A-78179D4F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4C53C-40EC-4210-B1B4-9B080397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语音转文字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B23D5-39A3-481B-961E-A2B706C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C940A-8FC4-4F2C-AF88-ADDE2999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3837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C9E522-7BD7-49C1-9738-51FD0E42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52625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577E6-EAB4-4ED2-9A82-FE1F67C9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47875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生成评分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FB8AF-2BE7-4699-BCB5-B3B5D2C3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24B38-0632-4A6C-81E3-6ECC642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内容：回答了什么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54C7B4-221A-453A-9EBD-3ACAAB85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浏览器采集音频，后端转换为 16k 单声道。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ASR 将语音转成文字，供岗位内容评分。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系统引用回答中的原话，解释评分原因；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TTS 负责朗读问题，减少手动操作。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1BCB8-2459-48B1-9DEF-804CD1E3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6EA69-AFD4-4E89-A16C-F5DECDDD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表达：回答得怎么样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971FF-411F-4D2B-AF08-B7869FC8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90975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语速：用文字量与录音时长计算。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停顿：统计持续静音的次数。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口头禅：识别“嗯、那个、就是”等词。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这些量化信息进入表达流畅度的判断。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AA0460-C975-4E53-AF71-AC70F084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文字模式没有真实录音特征，因此不为语音流畅度补造分数。</a:t>
            </a:r>
          </a:p>
        </p:txBody>
      </p:sp>
    </p:spTree>
    <p:extLst>
      <p:ext uri="{BB962C8B-B14F-4D97-AF65-F5344CB8AC3E}">
        <p14:creationId xmlns:p14="http://schemas.microsoft.com/office/powerpoint/2010/main" val="6774710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4413041e04d2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4FBFC-2644-4C77-9386-0C19AD7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B36CC-C486-438B-AD48-0C3EF9F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A306-15B9-4672-A3B0-6D921B0A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评分报告：四项能力有解释，原话依据可核对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833354-5583-4E65-A095-03542EC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9D17F-661C-41A1-89FB-788BE7AB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6743700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F62C4-D2CF-4BEE-824B-186EACA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示例：回答原话怎样支撑评分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811A6-1B7D-49DB-9BC3-66095CD9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6286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说明示例（非真实用户数据）：“我负责整理雨天和逆光片段，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写 Python 脚本统计漏检帧。”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这句话交代了任务、个人职责和所用方法，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可作为理解评分依据。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若想表达更完整，还要补充发现的问题、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处理结果和自己的复盘。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75D17-0129-494A-A538-ECCD6F8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76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四项评分维度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7B432-72E4-40B5-B4F1-0D3DB763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38425"/>
            <a:ext cx="3476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专业匹配：方法对岗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逻辑结构：任务、行动、结果说清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表达：语速、停顿、填充词；素养：安全、协作、责任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E8E0C-6926-4AAA-8C15-D649B5AE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95725"/>
            <a:ext cx="3476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反馈和报告各有作用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7322C-AF06-44B3-B7BD-43B8AC3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57700"/>
            <a:ext cx="34766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逐题反馈指出问题和改法；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整场报告汇总四项结果；缺失项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显示“未评估”，文本模式不评语音流畅度。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81A93-36D2-4B2F-96C6-398CB225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示例回答仅作说明，不代表实测数据；单次模型评分不等同于就业结论。</a:t>
            </a:r>
          </a:p>
        </p:txBody>
      </p:sp>
    </p:spTree>
    <p:extLst>
      <p:ext uri="{BB962C8B-B14F-4D97-AF65-F5344CB8AC3E}">
        <p14:creationId xmlns:p14="http://schemas.microsoft.com/office/powerpoint/2010/main" val="2108928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ced1dea39428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01CC5-65EC-4C0C-A9C1-6C1C0C1F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B9B01C-2B5F-48D4-860A-2DC79163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7F5C4-5004-4E54-895D-3C8E9D4E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成长追踪：按同一学生、同一岗位回看训练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1E986-FE7B-4714-B7AB-F542A0EB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4B1BA-7D5F-4DBA-BB7F-B7754BDE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8120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记录可回看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5708F-197D-40E3-B946-BA3914C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保存完成时间、岗位和报告入口。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学生能打开历史报告，查看当时的原话依据与改进建议。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B2EB0-1BB7-4F76-BC18-3016D9DD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2417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36C03-2C32-4102-A939-2481C627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48025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变化有前提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7A6A8-E5D6-478E-A440-0F60A2B8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48025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同一学生、同一岗位才放在一起；文字与语音、不同评分口径不混比。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只比较两次都有效的项目，缺失数据不补零、不跨缺失点连线。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DB2AA-72D1-4854-AC39-B0C362F1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91000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F7390-F990-4D06-BD8B-784D3F83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14850"/>
            <a:ext cx="2047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反馈可继续用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FD431-AF7A-476E-8338-B34EE54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14850"/>
            <a:ext cx="817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最近两次可比训练给出分数变化，帮助学生回看本次表现。</a:t>
            </a:r>
          </a:p>
          <a:p xmlns:a="http://schemas.openxmlformats.org/drawingml/2006/main">
            <a:pPr>
              <a:buNone/>
              <a:def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没有记录或只有一次训练时说明原因，不生成虚构趋势。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4C563-640B-414D-B28F-B3F987ED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57825"/>
            <a:ext cx="10429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1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EEEE2-19B0-45A6-99D1-01D43D3B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“本次比上次变化”描述观测结果，不直接宣称真实能力提高。</a:t>
            </a:r>
          </a:p>
        </p:txBody>
      </p:sp>
    </p:spTree>
    <p:extLst>
      <p:ext uri="{BB962C8B-B14F-4D97-AF65-F5344CB8AC3E}">
        <p14:creationId xmlns:p14="http://schemas.microsoft.com/office/powerpoint/2010/main" val="12775639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429ff41d7456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0D622-A2D2-45C3-8A9C-72B2360A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E2EDB0-4F08-4D5A-8172-92B9F2B7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70D2F-AE0F-4481-8DE4-54D928C6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企业初筛：按岗位比较候选表现并核对原报告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D7409-E2FA-495E-9982-120B2E54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4FEB9-F11E-428F-A5FD-86F1A437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6619875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EE705-0932-48E8-B856-A527CBDD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43125"/>
            <a:ext cx="6162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从岗位要求到候选名单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B4902-C4D4-4325-931A-11EB9B3E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76525"/>
            <a:ext cx="6162675" cy="2924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企业选择岗位，查看该岗位下符合条件的训练记录。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每位学生保留最近一份符合资格的报告。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按岗位权重汇总有效评分，再进行候选比较。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点击候选人可查看来源报告，核对评分理由。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F62D5-5527-4145-882F-207BBB36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6692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名单从训练数据产生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8222E-83DA-4E93-B1FF-BB77B552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19375"/>
            <a:ext cx="3571875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学生完成训练后，报告成为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候选记录来源；同人同岗再次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训练后更新，避免重复入列。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ED042-DF7E-47DC-9CE3-15FBE5B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14775"/>
            <a:ext cx="3571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排序有明确边界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7FE2-208D-43C8-8ECC-2E076C56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76750"/>
            <a:ext cx="3571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不同岗位与评分口径隔离。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缺失维度不按零分处罚，</a:t>
            </a:r>
          </a:p>
          <a:p xmlns:a="http://schemas.openxmlformats.org/drawingml/2006/main">
            <a:pPr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最终判断保留人工复核。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762D5-8032-4D82-8681-30B122DA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企业看到的分数能够追溯到具体会话和报告，不是单独维护的演示排行榜。</a:t>
            </a:r>
          </a:p>
        </p:txBody>
      </p:sp>
    </p:spTree>
    <p:extLst>
      <p:ext uri="{BB962C8B-B14F-4D97-AF65-F5344CB8AC3E}">
        <p14:creationId xmlns:p14="http://schemas.microsoft.com/office/powerpoint/2010/main" val="1714607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139bed664a4d6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9536F5-79DD-42C6-ABBB-D66DE977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F4A53-64D5-4F59-B562-B1AE790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388BC-A8D1-4201-B5B8-E80D034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项目闭环：候选记录可以回到真实训练报告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27369-E32E-422D-87BF-D60C68C2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16A7C5-183E-47E0-928B-D8617CE5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CC3A3-E76F-4F36-96C8-6D9CD49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学生身份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3A915-25A8-452C-80CB-CE0990A3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2A010-31C5-405A-A774-8FC770A1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42646-99AE-4089-B7B4-A7E67488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962DE-EB50-40EF-937A-E6470449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真实会话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3E217-B752-477F-9531-DBE9F90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92076E-7AD3-4DBE-9261-64D3571C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F42B6-F52C-45DF-AF8C-BE0828EC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BBB064-933F-4C53-9642-2113FAB9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评分报告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D4B2F-9607-4C88-A604-4A1AAB50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F">
              <a:alpha val="5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F9EC5-2813-4A23-B3D9-F5AE7FF1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57425"/>
            <a:ext cx="238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21DF3-961D-436E-B514-4F9DAD16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22288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7CFFCB">
                <a:alpha val="72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08AEA-9E93-4522-8253-73904863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20383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98624D-744A-40CF-8B40-7CBF0DCC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643B1-D7F5-4A97-AFE8-F6903BF7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学生侧：按同一岗位回看训练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44E72-509B-4BB1-98DF-F0A4C73F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同一学生同岗训练，可按时间回看报告。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改进建议沿用原报告内容。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新生咨询只给岗位路径，不出面试分数。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成长记录按学生和岗位隔离。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A60E6-F5BD-4641-BE62-309CD8A5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14700"/>
            <a:ext cx="509587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0F342B-6AE7-4303-A581-AA31F43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企业侧：候选结果有来源可核对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1B1738-EEC1-4C10-BDB0-67976328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19550"/>
            <a:ext cx="46386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候选数据来自完成并有报告的训练。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每名学生同岗保留最近一份合格报告。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可打开报告核对回答原文、评分和建议。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同人再训练更新记录，不重复建档。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B6623-6543-4D1C-80D6-84557934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学生成长与企业初筛共用已完成训练记录；不使用独立静态排行榜。</a:t>
            </a:r>
          </a:p>
        </p:txBody>
      </p:sp>
    </p:spTree>
    <p:extLst>
      <p:ext uri="{BB962C8B-B14F-4D97-AF65-F5344CB8AC3E}">
        <p14:creationId xmlns:p14="http://schemas.microsoft.com/office/powerpoint/2010/main" val="14408655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ccd536823467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AF7F7-0CF2-4A66-8F7F-FC372E50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2B0514-2608-4F7F-97CC-6F9AA0B0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82625-C0BC-47D8-943F-7F839800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系统架构：页面、业务、模型与数据如何衔接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54FD0-CF04-47C6-B890-672273FA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71B2C-D2F2-4D5B-B531-64DE49AF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A1722-03D6-49FE-B1A5-C3ED4438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交互层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736EAA-EC7F-4B3A-A3EF-7A0A8B6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28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Next.js · TypeScript · ECharts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2E227-9060-463A-BB3C-1CA50BDD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00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岗位选择、语音问答、评分报告、成长曲线与企业看板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EE09A0-265E-41DA-BFD0-7720FA39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86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48ED47-0CB7-421E-8080-9C1F2FEC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05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2467CB-811B-4518-9D5A-FC075492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81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FastAPI · SQLAlchemy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059FB-2EB4-480C-9D00-6BA182C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服务端推进面试状态，处理咨询、题库、评分与候选查询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58D154-16C4-431B-BE6E-6B4BA921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7B847-F1F1-4A43-907B-8AF74C5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智能层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11D9-1B3C-45AE-91D1-F89FFA22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9338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LLM · ASR · TTS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B886E6-C8CD-45DD-96F6-65F61279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岗位解析与追问、回答理解与评分、语音识别与问题朗读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843C9-17DB-4A1D-B118-565820E3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10620375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4F52F-C830-468C-9C1F-D8AC3191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10150"/>
            <a:ext cx="14763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数据层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72BE8E-4362-4E98-816F-01D82BD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863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SQLite · 学生、岗位与训练记录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E1CA8-FD26-4A4C-A048-FDF40AE3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8191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关联岗位、题目、会话、回答和报告，支持成长回看与候选查询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CF120-E3A6-4554-9529-91E4C1E2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调用路径：前端 → FastAPI → 模型/语音服务 → SQLite；报告按 session_id 追溯。</a:t>
            </a:r>
          </a:p>
        </p:txBody>
      </p:sp>
    </p:spTree>
    <p:extLst>
      <p:ext uri="{BB962C8B-B14F-4D97-AF65-F5344CB8AC3E}">
        <p14:creationId xmlns:p14="http://schemas.microsoft.com/office/powerpoint/2010/main" val="890633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041212f464ce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B0C1B6-D08A-41F3-BFC1-7171FA7B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36385-18FB-4897-A9B8-FCF07938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7AB8A-1A65-4AFC-8185-72B3120E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运行保障：调用失败有备用路径，结果可以核查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7BE0-CB4B-489C-AF3C-6DA94262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08602-CA18-4A5A-A222-F53BF034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C6D4D6-4FF6-4D6D-AFFB-A425E42A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旗舰模型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EDEA6-21A9-4994-8B83-DFAF572D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编排、追问、评分、解析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F10BB-7205-4455-AA75-7DEB882B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42169A-4270-4AC4-9840-9B3800EE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BF046-BBB1-411C-99E3-4D8A9E07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Flash 云模型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1A84A1-A1DD-4BEB-B1DC-6B07D464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主模型失败后尝试回退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48180-00F2-4490-BE9F-DFB5F67D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76500"/>
            <a:ext cx="3524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DFCBF-E9FD-4FA8-BDE5-50E3DCFA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28612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8887-4E84-4563-9041-CFEF0E84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24075"/>
            <a:ext cx="2828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本地模型（需启用）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C5659-04CC-460F-AF29-7809BF7E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57475"/>
            <a:ext cx="28289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云端失败时尝试本地模型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87AEAB-62AA-4A61-B916-868EDC3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59360-62E9-4B9F-B322-32BB9F7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控制等待与失败影响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97ECC-EF32-483A-A581-BFC736CC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每阶段设总时限，为后续模型保留回退时间。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返回内容先做格式校验，结构错误时重试。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追问判断失败则进入下一题，不阻断训练。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模型名、服务地址和密钥由 .env 配置。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275B5F-483E-4F81-B87E-44CF40C5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76650"/>
            <a:ext cx="5095875" cy="2124075"/>
          </a:xfrm>
          <a:prstGeom xmlns:a="http://schemas.openxmlformats.org/drawingml/2006/main" prst="roundRect">
            <a:avLst>
              <a:gd name="adj" fmla="val 3587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6D0C1-6931-413E-9A99-0ECA44EF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48100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控制评分的可解释性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E43FD3-3B65-4D8C-A37C-948AA3F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1500"/>
            <a:ext cx="463867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两次独立评估；引用须来自回答原文。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缺失维度保留“未评估”，不编造依据。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记录阶段、模型和时延，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按 token 统计成本，便于排查。</a:t>
            </a:r>
          </a:p>
        </p:txBody>
      </p:sp>
    </p:spTree>
    <p:extLst>
      <p:ext uri="{BB962C8B-B14F-4D97-AF65-F5344CB8AC3E}">
        <p14:creationId xmlns:p14="http://schemas.microsoft.com/office/powerpoint/2010/main" val="18867740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441696c484ce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7231E-258A-46D9-9C4C-0D754C4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13239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9C926-9ADD-485A-8020-CEFB3570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4350"/>
            <a:ext cx="1038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E959E-FDAF-4E56-A7E5-3A0FB35E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19175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应用价值：把岗位训练、复盘和初筛连起来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7D715-C7B6-4A67-8130-D297D5A1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305550"/>
            <a:ext cx="85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5F7FF">
                    <a:alpha val="68000"/>
                  </a:srgbClr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FD48D-8045-4218-A2CF-CBC6C8B8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3DCA3-576A-42DA-A9D1-9AA9F11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课堂与就业训练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29DC4-250F-40CF-B9F8-721DB596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职业认知课：用岗位地图理解工作任务。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面试训练课：组织学生按岗位完成模拟问答。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课后复盘：对照原话与建议重写回答。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持续训练：同人同岗回看历史记录与变化。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9911C-271D-45D9-9F67-7D036DD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5095875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0B1020">
              <a:alpha val="72000"/>
            </a:srgbClr>
          </a:solidFill>
          <a:ln xmlns:a="http://schemas.openxmlformats.org/drawingml/2006/main" w="10478">
            <a:solidFill>
              <a:srgbClr val="F5F7FF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9037-D08A-478D-A886-3C65591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24075"/>
            <a:ext cx="46386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企业初筛与实施方式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B2C219-9B0A-4FA1-99FA-F735FD31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57475"/>
            <a:ext cx="4638675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企业维护岗位题库和评价重点。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通过同源报告了解候选人的训练表现。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使用本机或局域网部署组织集中体验。</a:t>
            </a:r>
          </a:p>
          <a:p xmlns:a="http://schemas.openxmlformats.org/drawingml/2006/main">
            <a:pPr>
              <a:lnSpc>
                <a:spcPct val="130000"/>
              </a:lnSpc>
              <a:buNone/>
              <a:def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推广到新岗位时，需要维护题库和领域知识。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542F-06A1-4378-AD29-D3075F2C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72440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由实际功能支撑的三个特点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7A9D8-E7D5-4E23-BC2D-95E0569F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334000"/>
            <a:ext cx="10668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智驾与三电种子岗位题库  ·  语音训练统计语速/停顿/填充词  ·  评分引用回答原话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C1B3C-AB17-4167-B85D-016CABFA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价值来自训练与筛选流程的衔接；效果仍需结合实际使用持续衡量。</a:t>
            </a:r>
          </a:p>
        </p:txBody>
      </p:sp>
    </p:spTree>
    <p:extLst>
      <p:ext uri="{BB962C8B-B14F-4D97-AF65-F5344CB8AC3E}">
        <p14:creationId xmlns:p14="http://schemas.microsoft.com/office/powerpoint/2010/main" val="3653907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19da73b5f49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9A994-823B-4FEC-B02A-95B1D3FF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23526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B1020">
              <a:alpha val="32000"/>
            </a:srgbClr>
          </a:solidFill>
          <a:ln xmlns:a="http://schemas.openxmlformats.org/drawingml/2006/main" w="13335">
            <a:solidFill>
              <a:srgbClr val="7CFFC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7F1FF-C84A-48B2-A74F-F6DD5D79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762000"/>
            <a:ext cx="2066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企业命题 05 · 智能面试仓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7A520-22CE-42EE-B007-B12D3BDD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14525"/>
            <a:ext cx="1076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让学生知道如何改进，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D124C-6BD5-4F1A-9E6E-0C3A1E41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076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7CFFCB"/>
                </a:solidFill>
                <a:latin typeface="Microsoft YaHei"/>
                <a:ea typeface="Microsoft YaHei"/>
                <a:cs typeface="Microsoft YaHei"/>
              </a:rPr>
              <a:t>让企业看见判断依据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5D4DB-8839-4831-AC92-FA88BDB0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岗位认知与学习规划 → 模拟面试与反馈 → 成长追踪与企业初筛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B11FE-A39F-4B37-A082-C93AC1F5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04298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题库围绕岗位维护，训练过程留有记录，评分结果能够追溯。</a:t>
            </a:r>
          </a:p>
          <a:p xmlns:a="http://schemas.openxmlformats.org/drawingml/2006/main">
            <a:pPr>
              <a:buNone/>
              <a:def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5F7FF"/>
                </a:solidFill>
                <a:latin typeface="Microsoft YaHei"/>
                <a:ea typeface="Microsoft YaHei"/>
                <a:cs typeface="Microsoft YaHei"/>
              </a:rPr>
              <a:t>用一条贯通的数据链，形成可落地的 AI 面试仓解决方案。</a:t>
            </a:r>
          </a:p>
        </p:txBody>
      </p:sp>
    </p:spTree>
    <p:extLst>
      <p:ext uri="{BB962C8B-B14F-4D97-AF65-F5344CB8AC3E}">
        <p14:creationId xmlns:p14="http://schemas.microsoft.com/office/powerpoint/2010/main" val="1661322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2026-09-28T14:05:08.8610000Z</dcterms:created>
  <dcterms:modified xsi:type="dcterms:W3CDTF">2026-09-28T14:05:08.8610000Z</dcterms:modified>
</coreProperties>
</file>