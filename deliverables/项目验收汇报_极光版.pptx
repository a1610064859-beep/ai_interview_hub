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21c183822b4a04" /><Relationship Type="http://schemas.openxmlformats.org/officeDocument/2006/relationships/extended-properties" Target="/docProps/app.xml" Id="R0183233db8724200" /><Relationship Type="http://schemas.openxmlformats.org/officeDocument/2006/relationships/officeDocument" Target="/ppt/presentation.xml" Id="R32a2cc7836c34a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87220af7ce46ac"/>
  </p:sldMasterIdLst>
  <p:notesMasterIdLst>
    <p:notesMasterId xmlns:r="http://schemas.openxmlformats.org/officeDocument/2006/relationships" r:id="R5ece49439f43497a"/>
  </p:notesMasterIdLst>
  <p:sldIdLst>
    <p:sldId xmlns:r="http://schemas.openxmlformats.org/officeDocument/2006/relationships" id="256" r:id="R30d834e8c278428c"/>
    <p:sldId xmlns:r="http://schemas.openxmlformats.org/officeDocument/2006/relationships" id="257" r:id="Rdc8b799351a2427d"/>
    <p:sldId xmlns:r="http://schemas.openxmlformats.org/officeDocument/2006/relationships" id="258" r:id="Ree226e0146054128"/>
    <p:sldId xmlns:r="http://schemas.openxmlformats.org/officeDocument/2006/relationships" id="259" r:id="Rcf3c401e08b54d8c"/>
    <p:sldId xmlns:r="http://schemas.openxmlformats.org/officeDocument/2006/relationships" id="260" r:id="Rcfe587a960394471"/>
    <p:sldId xmlns:r="http://schemas.openxmlformats.org/officeDocument/2006/relationships" id="261" r:id="R5af42cb8cb6641fe"/>
    <p:sldId xmlns:r="http://schemas.openxmlformats.org/officeDocument/2006/relationships" id="262" r:id="Rc8989676e7a94da4"/>
    <p:sldId xmlns:r="http://schemas.openxmlformats.org/officeDocument/2006/relationships" id="263" r:id="R7279d24d59874130"/>
    <p:sldId xmlns:r="http://schemas.openxmlformats.org/officeDocument/2006/relationships" id="264" r:id="R2b8b6513b35b4b9a"/>
    <p:sldId xmlns:r="http://schemas.openxmlformats.org/officeDocument/2006/relationships" id="265" r:id="R4b072828c9904e44"/>
    <p:sldId xmlns:r="http://schemas.openxmlformats.org/officeDocument/2006/relationships" id="266" r:id="R1c7ae1834ea0471c"/>
    <p:sldId xmlns:r="http://schemas.openxmlformats.org/officeDocument/2006/relationships" id="267" r:id="R9e1f84df8aab4a36"/>
    <p:sldId xmlns:r="http://schemas.openxmlformats.org/officeDocument/2006/relationships" id="268" r:id="R6cc9663b0e64420c"/>
    <p:sldId xmlns:r="http://schemas.openxmlformats.org/officeDocument/2006/relationships" id="269" r:id="R70b43b0e10224575"/>
    <p:sldId xmlns:r="http://schemas.openxmlformats.org/officeDocument/2006/relationships" id="270" r:id="R1f1478f4af3c4b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5731646c554bc0" /><Relationship Type="http://schemas.openxmlformats.org/officeDocument/2006/relationships/slideMaster" Target="/ppt/slideMasters/slideMaster1.xml" Id="R8287220af7ce46ac" /><Relationship Type="http://schemas.openxmlformats.org/officeDocument/2006/relationships/notesMaster" Target="/ppt/notesMasters/notesMaster1.xml" Id="R5ece49439f43497a" /><Relationship Type="http://schemas.openxmlformats.org/officeDocument/2006/relationships/presProps" Target="/ppt/presProps.xml" Id="R451c9df07f874806" /><Relationship Type="http://schemas.openxmlformats.org/officeDocument/2006/relationships/tableStyles" Target="/ppt/tableStyles.xml" Id="Re72df1b1ec2141d4" /><Relationship Type="http://schemas.openxmlformats.org/officeDocument/2006/relationships/slide" Target="/ppt/slides/slide1.xml" Id="R30d834e8c278428c" /><Relationship Type="http://schemas.openxmlformats.org/officeDocument/2006/relationships/slide" Target="/ppt/slides/slide2.xml" Id="Rdc8b799351a2427d" /><Relationship Type="http://schemas.openxmlformats.org/officeDocument/2006/relationships/slide" Target="/ppt/slides/slide3.xml" Id="Ree226e0146054128" /><Relationship Type="http://schemas.openxmlformats.org/officeDocument/2006/relationships/slide" Target="/ppt/slides/slide4.xml" Id="Rcf3c401e08b54d8c" /><Relationship Type="http://schemas.openxmlformats.org/officeDocument/2006/relationships/slide" Target="/ppt/slides/slide5.xml" Id="Rcfe587a960394471" /><Relationship Type="http://schemas.openxmlformats.org/officeDocument/2006/relationships/slide" Target="/ppt/slides/slide6.xml" Id="R5af42cb8cb6641fe" /><Relationship Type="http://schemas.openxmlformats.org/officeDocument/2006/relationships/slide" Target="/ppt/slides/slide7.xml" Id="Rc8989676e7a94da4" /><Relationship Type="http://schemas.openxmlformats.org/officeDocument/2006/relationships/slide" Target="/ppt/slides/slide8.xml" Id="R7279d24d59874130" /><Relationship Type="http://schemas.openxmlformats.org/officeDocument/2006/relationships/slide" Target="/ppt/slides/slide9.xml" Id="R2b8b6513b35b4b9a" /><Relationship Type="http://schemas.openxmlformats.org/officeDocument/2006/relationships/slide" Target="/ppt/slides/slide10.xml" Id="R4b072828c9904e44" /><Relationship Type="http://schemas.openxmlformats.org/officeDocument/2006/relationships/slide" Target="/ppt/slides/slide11.xml" Id="R1c7ae1834ea0471c" /><Relationship Type="http://schemas.openxmlformats.org/officeDocument/2006/relationships/slide" Target="/ppt/slides/slide12.xml" Id="R9e1f84df8aab4a36" /><Relationship Type="http://schemas.openxmlformats.org/officeDocument/2006/relationships/slide" Target="/ppt/slides/slide13.xml" Id="R6cc9663b0e64420c" /><Relationship Type="http://schemas.openxmlformats.org/officeDocument/2006/relationships/slide" Target="/ppt/slides/slide14.xml" Id="R70b43b0e10224575" /><Relationship Type="http://schemas.openxmlformats.org/officeDocument/2006/relationships/slide" Target="/ppt/slides/slide15.xml" Id="R1f1478f4af3c4b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b76ca9be574f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19476aaa3c436b" /><Relationship Type="http://schemas.openxmlformats.org/officeDocument/2006/relationships/notesMaster" Target="/ppt/notesMasters/notesMaster1.xml" Id="Rb32061894f4c49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d9c71c481740b8" /><Relationship Type="http://schemas.openxmlformats.org/officeDocument/2006/relationships/notesMaster" Target="/ppt/notesMasters/notesMaster1.xml" Id="R45996252cf7747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96f26d879440e0" /><Relationship Type="http://schemas.openxmlformats.org/officeDocument/2006/relationships/notesMaster" Target="/ppt/notesMasters/notesMaster1.xml" Id="R1d3e4881f4f44c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04e13e1b614403" /><Relationship Type="http://schemas.openxmlformats.org/officeDocument/2006/relationships/notesMaster" Target="/ppt/notesMasters/notesMaster1.xml" Id="R591d76727c3146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0601a1251b40ce" /><Relationship Type="http://schemas.openxmlformats.org/officeDocument/2006/relationships/notesMaster" Target="/ppt/notesMasters/notesMaster1.xml" Id="R1b349b3affd04a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81b84fa6f94307" /><Relationship Type="http://schemas.openxmlformats.org/officeDocument/2006/relationships/notesMaster" Target="/ppt/notesMasters/notesMaster1.xml" Id="Re8778aa7b04746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e433123fab49f4" /><Relationship Type="http://schemas.openxmlformats.org/officeDocument/2006/relationships/notesMaster" Target="/ppt/notesMasters/notesMaster1.xml" Id="Ra89166a2567941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e701bedcc44806" /><Relationship Type="http://schemas.openxmlformats.org/officeDocument/2006/relationships/notesMaster" Target="/ppt/notesMasters/notesMaster1.xml" Id="R088f0d4f72ee4b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db4843ec834b58" /><Relationship Type="http://schemas.openxmlformats.org/officeDocument/2006/relationships/notesMaster" Target="/ppt/notesMasters/notesMaster1.xml" Id="R17a3bdbee2a24a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07d8fea1c94f5d" /><Relationship Type="http://schemas.openxmlformats.org/officeDocument/2006/relationships/notesMaster" Target="/ppt/notesMasters/notesMaster1.xml" Id="Rc17df87f7877415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1dd9ad9b0534e83" /><Relationship Type="http://schemas.openxmlformats.org/officeDocument/2006/relationships/notesMaster" Target="/ppt/notesMasters/notesMaster1.xml" Id="Rba0540833d9849e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c6a301cc20f4771" /><Relationship Type="http://schemas.openxmlformats.org/officeDocument/2006/relationships/notesMaster" Target="/ppt/notesMasters/notesMaster1.xml" Id="R2980de79245c4b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9094d2c94d7449c" /><Relationship Type="http://schemas.openxmlformats.org/officeDocument/2006/relationships/notesMaster" Target="/ppt/notesMasters/notesMaster1.xml" Id="Rbeaee518e66442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6e340aae5014ac9" /><Relationship Type="http://schemas.openxmlformats.org/officeDocument/2006/relationships/notesMaster" Target="/ppt/notesMasters/notesMaster1.xml" Id="R94716efc36f447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4fbce398ec4ac7" /><Relationship Type="http://schemas.openxmlformats.org/officeDocument/2006/relationships/notesMaster" Target="/ppt/notesMasters/notesMaster1.xml" Id="Rbb2b33b22a0c4d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命题05原文面向一般职教学生与企业。产品定位按用户要求采用通用岗位表述；当前种子岗位及部分提示词为智驾、三电。未声称已完成跨行业验证。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 PDF 第1–2页背景、核心问题与预期成果。下列成效是目标与产品作用，不是统计效果。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 server/api/jobs.py、sessions.py、reports.py、growth.py、recruiter.py 与 counsel.py。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server/services/counsel.py 与 data 中咨询静态资源；咨询输出岗位地图、差距、年级学习路径及训练入口。示例为使用情境，不是用户实测。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server/services/jd_parse.py；server/api/jobs.py:229–384。JD解析先返回草案，题库可增删改；JD评估建议与候选排序权重区别于固定正式评分字段。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web/app/page.tsx；server/api/sessions.py；server/services/orchestrator.py。真实界面截图若显示岗位样例，不代表行业范围限制。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web/lib/recorder.ts；server/services/audio.py、asr.py、tts.py、scoring.py。声学特征取采集时长、停顿计数与填充词，不使用ASR词级时间戳。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server/services/scoring.py；回答例句引用 docs/test-answers/05-course-project.md 虚构样本05；解释与建议是说明示例，非实测评分输出。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server/services/growth.py；docs/growth-tracking-spec.md。比较要求输入模式、评分口径、有效维度可比。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server/services/recruiter.py；server/api/recruiter.py。候选数据联查 Session、Report、User；缺维资格、权重重归一化及口径隔离。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 PDF 项目端预期成果；server/models.py 的users/jobs/questions/sessions/answers/reports关系；企业与成长服务。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web/package.json；requirements.txt；server/main.py；server/services/llm.py；server/models.py。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server/services/llm.py timeout与budget；orchestrator.py失败进入下一题；scoring.py双评及原文证据校验；模型名称URL通过配置。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命题05预期成果与AGENTS部署范围。使用价值为产品机制与预期作用，未声称已有成本/就业率改善实测。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命题05学生端、企业端、项目端目标总结。不含下一步行动，不以未获得的实测数值宣称成效。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6144a13c6c4f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aac063de6e4870" /><Relationship Type="http://schemas.openxmlformats.org/officeDocument/2006/relationships/slideLayout" Target="/ppt/slideLayouts/slideLayout1.xml" Id="R822bb6e32aa542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2bb6e32aa542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8aaa28a834671" /><Relationship Type="http://schemas.openxmlformats.org/officeDocument/2006/relationships/image" Target="/ppt/media/image.jpeg" Id="R456518d5ed114246" /><Relationship Type="http://schemas.openxmlformats.org/officeDocument/2006/relationships/notesSlide" Target="/ppt/notesSlides/notesSlide1.xml" Id="Rdf91f64d2ce74b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b0ecfcfd3e4c96" /><Relationship Type="http://schemas.openxmlformats.org/officeDocument/2006/relationships/image" Target="/ppt/media/image2.jpeg" Id="R84c6bcf1686845df" /><Relationship Type="http://schemas.openxmlformats.org/officeDocument/2006/relationships/notesSlide" Target="/ppt/notesSlides/notesSlide2.xml" Id="R53380a8f586949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449a12a2c466a" /><Relationship Type="http://schemas.openxmlformats.org/officeDocument/2006/relationships/image" Target="/ppt/media/image3.jpeg" Id="R0e6a00a627f04c1b" /><Relationship Type="http://schemas.openxmlformats.org/officeDocument/2006/relationships/notesSlide" Target="/ppt/notesSlides/notesSlide3.xml" Id="R09c7a6883b3640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f50ddf6264922" /><Relationship Type="http://schemas.openxmlformats.org/officeDocument/2006/relationships/image" Target="/ppt/media/image4.jpeg" Id="R8045c15c6b644056" /><Relationship Type="http://schemas.openxmlformats.org/officeDocument/2006/relationships/notesSlide" Target="/ppt/notesSlides/notesSlide4.xml" Id="R698d5e2d4c1d4f5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f755aab2b4aa1" /><Relationship Type="http://schemas.openxmlformats.org/officeDocument/2006/relationships/image" Target="/ppt/media/image5.jpeg" Id="R755f4b6a378d4909" /><Relationship Type="http://schemas.openxmlformats.org/officeDocument/2006/relationships/notesSlide" Target="/ppt/notesSlides/notesSlide5.xml" Id="R9e455da7d9114d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e34f90814d458a" /><Relationship Type="http://schemas.openxmlformats.org/officeDocument/2006/relationships/image" Target="/ppt/media/image6.jpeg" Id="R0dd327ff18f74280" /><Relationship Type="http://schemas.openxmlformats.org/officeDocument/2006/relationships/notesSlide" Target="/ppt/notesSlides/notesSlide6.xml" Id="R6a49b69ba0f844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5f8977f714c67" /><Relationship Type="http://schemas.openxmlformats.org/officeDocument/2006/relationships/image" Target="/ppt/media/image7.jpeg" Id="R75f92b3f5c204d71" /><Relationship Type="http://schemas.openxmlformats.org/officeDocument/2006/relationships/notesSlide" Target="/ppt/notesSlides/notesSlide7.xml" Id="R026570a2faff49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20394b5f3043eb" /><Relationship Type="http://schemas.openxmlformats.org/officeDocument/2006/relationships/image" Target="/ppt/media/image8.jpeg" Id="Rfcd437e2ca2c412a" /><Relationship Type="http://schemas.openxmlformats.org/officeDocument/2006/relationships/notesSlide" Target="/ppt/notesSlides/notesSlide8.xml" Id="Ree436bf4e78047c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b281d23d444cb" /><Relationship Type="http://schemas.openxmlformats.org/officeDocument/2006/relationships/image" Target="/ppt/media/image9.jpeg" Id="R8d2bb56302b245e0" /><Relationship Type="http://schemas.openxmlformats.org/officeDocument/2006/relationships/notesSlide" Target="/ppt/notesSlides/notesSlide9.xml" Id="Rdb765a1c831b484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2b86989614207" /><Relationship Type="http://schemas.openxmlformats.org/officeDocument/2006/relationships/image" Target="/ppt/media/image10.jpeg" Id="R54ad38a7e62f4ff9" /><Relationship Type="http://schemas.openxmlformats.org/officeDocument/2006/relationships/notesSlide" Target="/ppt/notesSlides/notesSlide10.xml" Id="R0b3f993ebac44e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74831a2de34ffc" /><Relationship Type="http://schemas.openxmlformats.org/officeDocument/2006/relationships/image" Target="/ppt/media/image11.jpeg" Id="R8fb3c0fbc44b48b9" /><Relationship Type="http://schemas.openxmlformats.org/officeDocument/2006/relationships/notesSlide" Target="/ppt/notesSlides/notesSlide11.xml" Id="R7c7c8cc6c6dd40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e8dd34cf24c6e" /><Relationship Type="http://schemas.openxmlformats.org/officeDocument/2006/relationships/image" Target="/ppt/media/image12.jpeg" Id="R0ab2c5fa564344f1" /><Relationship Type="http://schemas.openxmlformats.org/officeDocument/2006/relationships/notesSlide" Target="/ppt/notesSlides/notesSlide12.xml" Id="R8f0413a76da849e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b2b5d3a3c44c1f" /><Relationship Type="http://schemas.openxmlformats.org/officeDocument/2006/relationships/image" Target="/ppt/media/image13.jpeg" Id="R9f22f70599dc4ee2" /><Relationship Type="http://schemas.openxmlformats.org/officeDocument/2006/relationships/notesSlide" Target="/ppt/notesSlides/notesSlide13.xml" Id="R356275fa34c84c5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1b3d79d5ae4030" /><Relationship Type="http://schemas.openxmlformats.org/officeDocument/2006/relationships/image" Target="/ppt/media/image14.jpeg" Id="R8490e1c813dc4c8a" /><Relationship Type="http://schemas.openxmlformats.org/officeDocument/2006/relationships/notesSlide" Target="/ppt/notesSlides/notesSlide14.xml" Id="R76d3b9cc242045b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0285185034414" /><Relationship Type="http://schemas.openxmlformats.org/officeDocument/2006/relationships/image" Target="/ppt/media/image15.jpeg" Id="Rbf89044641d34b1c" /><Relationship Type="http://schemas.openxmlformats.org/officeDocument/2006/relationships/notesSlide" Target="/ppt/notesSlides/notesSlide15.xml" Id="Rc026e0ded4784a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6518d5ed11424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75B03-E9E3-49B3-8D81-0D660532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800100"/>
            <a:ext cx="27527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EB782-AE14-41B8-BCAB-A649436F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847725"/>
            <a:ext cx="2466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 · 智能面试仓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80479-A1A2-46A7-A94D-08B29DA4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52625"/>
            <a:ext cx="9810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智驾未来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9CA35-820B-4FE5-9054-C7344003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67025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AI面试仓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26447-05C2-429D-A465-00C2B908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10001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面向岗位需求的面试训练与人才初筛平台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B8B619-2472-44C7-9623-2BF4119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96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职业认知 · 模拟面试 · 评分反馈 · 成长追踪 · 企业初筛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D2B3D-F4AC-4AE2-B305-A58B548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4550"/>
            <a:ext cx="695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项目验收汇报</a:t>
            </a:r>
          </a:p>
        </p:txBody>
      </p:sp>
    </p:spTree>
    <p:extLst>
      <p:ext uri="{BB962C8B-B14F-4D97-AF65-F5344CB8AC3E}">
        <p14:creationId xmlns:p14="http://schemas.microsoft.com/office/powerpoint/2010/main" val="1371496790"/>
      </p:ext>
    </p:extLst>
  </p:cSld>
  <p:transition spd="med" advClick="1">
    <p:fade/>
  </p:transition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c6bcf1686845d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666F79-A999-41A6-A763-2CD00053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F8251-9682-425D-9756-8763F2FC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8222B-FB5C-44FA-B11E-9E6B325E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命题要求：让训练成果服务学生与企业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70E94D-4A39-45CE-9563-EDADC84A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02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4788EC-36E9-49BD-A755-3EFEC576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7167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8E010-41FA-47E4-9249-89DCA409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12AFE-805C-47A3-A49C-16FBBD54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8597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新生缺少职业认知，毕业生缺少面试练习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AF874-F48F-4106-AF9B-1D7E9060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48602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先了解岗位要求，再通过模拟问答获得反馈；</a:t>
            </a:r>
          </a:p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保留训练历史，帮助学生有针对性地练习。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DF2D10-7959-47B3-9C5B-C693A91D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992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71D37-D15A-40D2-8EC5-9EDE181F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A26F21-9DDA-425E-97CB-2CB29C17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2422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仅凭简历难以看清岗位能力与表达表现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7AFCC8-EC3A-46CA-97D2-E78DE83C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2427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围绕岗位要求建立题库与考察重点；</a:t>
            </a:r>
          </a:p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结合训练报告比较候选人，并追溯回答依据。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F6632-195D-454A-A3AA-49AFF8C5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642E5C-D7FC-4B7E-9252-8178FBB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434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项目端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8EBB9C-1D05-46F0-BB49-2D64868B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56247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学生训练与企业筛选缺少衔接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A4BF45-EC2A-462D-9772-8F84BF3D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96252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将岗位、题目、会话和报告连接起来；</a:t>
            </a:r>
          </a:p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形成可在学校或局域网落地的面试仓方案。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1D75CB-AC49-4024-84F5-223FE9F9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核心目标：学生知道如何改进，企业知道筛选依据来自哪里。</a:t>
            </a:r>
          </a:p>
        </p:txBody>
      </p:sp>
    </p:spTree>
    <p:extLst>
      <p:ext uri="{BB962C8B-B14F-4D97-AF65-F5344CB8AC3E}">
        <p14:creationId xmlns:p14="http://schemas.microsoft.com/office/powerpoint/2010/main" val="1486018317"/>
      </p:ext>
    </p:extLst>
  </p:cSld>
  <p:transition spd="med" advClick="1">
    <p:fade/>
  </p:transition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a00a627f04c1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8F1655-4F24-4EBD-A2F5-575EEE93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DC0E4-BF5E-4B5C-8C2E-4EDBD7F7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91C587-29EF-47CA-BCED-9925136B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平台流程：从岗位要求到训练反馈与初筛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9AF23-295A-4E4E-9A82-19F4E418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03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9F2DF2-A28C-4B91-BDBC-10C9559B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8AC3A-5F34-42B7-A2EB-32773B1C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岗位要求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ECB6E-1356-43D0-8B39-6DE014ED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65078-D19D-4634-9642-9B183D9A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5E2A0A-64D3-43A8-98F8-1E6EF354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20D201-B8F8-4334-BD94-0815C8EC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题库配置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20B257-AAA4-41B2-AC58-F125F004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17F7AB-12CD-4D26-89E4-967D122D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6E158C-7DEE-40E9-B579-FF261DF4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5CF43E-1BF3-42CC-B4AF-88D96ABA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模拟面试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DFB095-838F-4401-8879-8926B116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B92B37-8313-441D-96A5-7A8985C3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7DD8C5-774D-4D53-A4C9-E0709270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DF9612-A144-43DB-A61F-C30E3F84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0127C-B08E-49B2-A4B4-AC6550032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52995E-30A5-40E7-B6B3-D1D5C044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75D96C-E01D-419C-8466-D42C4237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9BC9E3-6393-4284-837C-0973E443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企业初筛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8950D2-43F3-454D-9E2E-B57A849C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0425"/>
            <a:ext cx="5095875" cy="2181225"/>
          </a:xfrm>
          <a:prstGeom xmlns:a="http://schemas.openxmlformats.org/drawingml/2006/main" prst="roundRect">
            <a:avLst>
              <a:gd name="adj" fmla="val 349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D7B54A-0B8A-4AEE-B34E-E8667430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718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学生如何使用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BAA6AD-59F1-4F37-9E0B-A07CD290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05275"/>
            <a:ext cx="4638675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新生先做职业咨询，找到适合的训练岗位。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学生回答岗位问题，查看评分理由与建议；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再次训练后，可回看同岗位的历史变化。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777348-B9E0-420E-B6DA-8B8E8980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00425"/>
            <a:ext cx="5095875" cy="2181225"/>
          </a:xfrm>
          <a:prstGeom xmlns:a="http://schemas.openxmlformats.org/drawingml/2006/main" prst="roundRect">
            <a:avLst>
              <a:gd name="adj" fmla="val 349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0CA1F8-F320-431E-865F-73989809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718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企业与项目如何衔接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5535E-5906-45EA-94C3-DBF29671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05275"/>
            <a:ext cx="4638675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企业维护岗位题库，设置初筛评价重点。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候选表现取自学生实际完成的训练报告；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项目端用同一条数据链连接供需双方。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583103-9EC6-4DB4-B9C3-E6F3DFFE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同一份训练报告既用于学生复盘，也为企业初筛提供依据。</a:t>
            </a:r>
          </a:p>
        </p:txBody>
      </p:sp>
    </p:spTree>
    <p:extLst>
      <p:ext uri="{BB962C8B-B14F-4D97-AF65-F5344CB8AC3E}">
        <p14:creationId xmlns:p14="http://schemas.microsoft.com/office/powerpoint/2010/main" val="1397311924"/>
      </p:ext>
    </p:extLst>
  </p:cSld>
  <p:transition spd="med" advClick="1">
    <p:fade/>
  </p:transition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45c15c6b64405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B5ACA-887F-4851-B474-D9F78840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CF50B-D637-40FE-83AB-74143FB0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B1DA4-9E53-471C-B604-1F4852CE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新生咨询：把“学什么”连接到“做什么”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C97EFF-0FCE-4A9A-B570-8D6F380E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04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23AA6-AC73-488F-B31D-E4E49EF0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619500" cy="338137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BB369-CAC9-4A07-A3BB-F63BC407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3162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输入：学生基本情况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B1C9B-A79C-473C-AE29-2B6DB69F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31623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选择专业、年级与兴趣，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说明当前关注的工作方向。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示例：一年级，喜欢动手测试，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希望了解技术类岗位。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3DA53A-48FB-4807-A733-ECB232E1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952625"/>
            <a:ext cx="6667500" cy="338137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FFFFAA-91BE-4814-ACAE-7BD8CA54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124075"/>
            <a:ext cx="621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输出：岗位地图、能力差距与学习路径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729278-0C42-4860-8A05-E46A1BD7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657475"/>
            <a:ext cx="62103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岗位地图：了解典型工作任务、岗位要求与匹配理由。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能力差距：对照基础，指出需要学习的知识与工具。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路径示例：大一学习 C/Python，打好专业基础；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大二学习测试工具，完成一次岗位模拟训练；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高年级完成专项项目，结合训练报告反复复盘。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训练入口：选择推荐岗位，进入模拟面试。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BE164-BBD4-4CA8-B664-2A704874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咨询用于认知与规划；只有进入面试并完成训练后，才生成评分报告。</a:t>
            </a:r>
          </a:p>
        </p:txBody>
      </p:sp>
    </p:spTree>
    <p:extLst>
      <p:ext uri="{BB962C8B-B14F-4D97-AF65-F5344CB8AC3E}">
        <p14:creationId xmlns:p14="http://schemas.microsoft.com/office/powerpoint/2010/main" val="1354004150"/>
      </p:ext>
    </p:extLst>
  </p:cSld>
  <p:transition spd="med" advClick="1">
    <p:fade/>
  </p:transition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f4b6a378d490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AB997-B039-409E-8D7A-9BBDEA10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7913D-532A-4E63-AE99-B38B065F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E7AEF-367F-4F34-BA28-530BA512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岗位配置：将招聘要求整理为可维护的题库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6FFF2-F81F-4B82-9C71-CA81D16F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05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14E1B7-AC77-45F8-A2EC-0CB10564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FEF84-2AAA-456D-B18D-F40F3CBD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输入岗位描述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262E6D-5A41-4F03-A121-890130C5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C0C22-A966-4EBE-BAF4-7B76C063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DDE14F-F852-46E7-9563-3DEB23AC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D76F0-9AAB-40FB-919C-A64B8595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生成配置草案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8F172-6F8C-4F68-9C24-03A3E485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AFC88-B204-4E0D-BB9D-369BA1F4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69A4B1-9B1F-4920-80E1-91E35C60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2C0087-0DE5-43C0-BDC9-A67D9429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检查并维护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15D884-3BC8-4521-A8B3-CB30D43A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D18E23-77BC-48F5-95B5-2EC4B368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91BF66-9CB3-4763-AA76-E1F01586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C87A5-DAA9-43EF-B243-6F80C5F2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用于岗位训练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F487DF-A51B-4CF1-A54F-E2765CA9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42FB76-0D89-415D-BBDB-8A0B43F6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配置示例：测试岗位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809841-97C6-4FCA-8259-63FEB7E9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岗位要求：能设计用例、记录并复现缺陷。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题目示例：“问题偶发时，你如何定位？”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考察重点：处理步骤、证据记录、风险意识。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企业可修改问题，并调整初筛评价权重。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EF486B-6935-49FB-A62D-BB57B2F4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DB2BAD-3D39-4096-A7C4-D5B40C96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如何落到一场训练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B5E3DA-4C99-4C29-975C-074C259D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学生选择岗位后，系统读取该岗位题库。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问答围绕岗位任务展开，避免泛泛提问。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完成后生成报告，并纳入该岗位候选比较。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企业可回到原报告核对具体表现。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66F7A2-665A-4877-9B1B-112F5B56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可维护的是题库内容、岗位评估建议与初筛权重；题目不会只靠固定文案展示。</a:t>
            </a:r>
          </a:p>
        </p:txBody>
      </p:sp>
    </p:spTree>
    <p:extLst>
      <p:ext uri="{BB962C8B-B14F-4D97-AF65-F5344CB8AC3E}">
        <p14:creationId xmlns:p14="http://schemas.microsoft.com/office/powerpoint/2010/main" val="1142160527"/>
      </p:ext>
    </p:extLst>
  </p:cSld>
  <p:transition spd="med" advClick="1">
    <p:fade/>
  </p:transition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d327ff18f7428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6BF19-7C62-42C2-8AE5-915C2547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5A129-627B-4A02-915F-6592CDFE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35392-F1E0-45CA-9501-C87464D9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学生面试：问答推进、追问与进度恢复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43128-E0EE-4696-BC7E-D1DFD798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06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C520A3-2EA8-4F2C-B827-01FA1625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6667500" cy="3762375"/>
          </a:xfrm>
          <a:prstGeom xmlns:a="http://schemas.openxmlformats.org/drawingml/2006/main" prst="roundRect">
            <a:avLst>
              <a:gd name="adj" fmla="val 2025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CE9FFC-D1CF-42F5-9971-8616B3C5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621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一轮训练的操作路径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5EDA79-BD71-4ECA-8EEB-896CEFCC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62103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选择学生与岗位 → 检查麦克风与播放设备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听取问题 → 录音回答或使用文字模式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根据本次回答接受追问 → 继续下一题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完成后进入评分报告，查看改进建议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A81AF-5219-48AA-B593-B6A5E6C8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0383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问答由服务端推进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74B7A1-3967-4CE6-B4F9-C4999AEA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581275"/>
            <a:ext cx="34766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系统保存当前题目和已提交回答，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刷新后可继续，避免依赖浏览器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临时状态。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2AEF6-4DE2-4CC0-A79E-BA185412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886200"/>
            <a:ext cx="3476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追问围绕当前回答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8362BB-5896-435A-9E98-949D720D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438650"/>
            <a:ext cx="34766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结合本题、岗位提示和回答判断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是否追问。追问服务失败时，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继续进入下一题。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B96781-08A4-4D85-90EC-C648EC01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提交期间锁定按钮；结果不明时先确认状态，避免重复推进。</a:t>
            </a:r>
          </a:p>
        </p:txBody>
      </p:sp>
    </p:spTree>
    <p:extLst>
      <p:ext uri="{BB962C8B-B14F-4D97-AF65-F5344CB8AC3E}">
        <p14:creationId xmlns:p14="http://schemas.microsoft.com/office/powerpoint/2010/main" val="1346883209"/>
      </p:ext>
    </p:extLst>
  </p:cSld>
  <p:transition spd="med" advClick="1">
    <p:fade/>
  </p:transition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92b3f5c204d7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C023A5-E63F-4B90-A263-424A3C79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C72C8-4A60-4873-9260-836A980D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0FFC6B-E755-4562-BE96-7DF46071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语音链路：既理解回答，也分析表达方式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2A4F62-2EDE-4BDC-B514-D5089228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07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87982-89F8-498F-99F6-992FEFF9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EFB6A-AFDD-4F14-A6E8-BB1B713E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浏览器录音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0AC673-512A-47F7-B46B-502DA75E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28DC1F-0BC8-403C-8CF3-43C8B3C5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828ABD-C9EF-436D-BA5C-88B5208E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9D489-151C-4551-9DE0-CBC98E13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音频转码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CE87C-B91F-406E-9745-13747121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73CF5A-D117-4075-BF3B-31B2F25A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26FA82-EF2E-4603-B22A-78179D4F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44C53C-40EC-4210-B1B4-9B080397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语音转文字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DB23D5-39A3-481B-961E-A2B706C7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4C940A-8FC4-4F2C-AF88-ADDE2999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C9E522-7BD7-49C1-9738-51FD0E42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2577E6-EAB4-4ED2-9A82-FE1F67C9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生成评分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FB8AF-2BE7-4699-BCB5-B3B5D2C3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524B38-0632-4A6C-81E3-6ECC642F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内容：回答了什么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54C7B4-221A-453A-9EBD-3ACAAB85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浏览器采集音频，后端转换为 16k 单声道。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ASR 将语音转成文字，供岗位内容评分。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系统引用回答中的原话，解释评分原因；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TTS 负责朗读问题，减少手动操作。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61BCB8-2459-48B1-9DEF-804CD1E3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76EA69-AFD4-4E89-A16C-F5DECDDD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表达：回答得怎么样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6971FF-411F-4D2B-AF08-B7869FC8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语速：用文字量与录音时长计算。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停顿：统计持续静音的次数。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口头禅：识别“嗯、那个、就是”等词。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这些量化信息进入表达流畅度的判断。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AA0460-C975-4E53-AF71-AC70F084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文字模式没有真实录音特征，因此不为语音流畅度补造分数。</a:t>
            </a:r>
          </a:p>
        </p:txBody>
      </p:sp>
    </p:spTree>
    <p:extLst>
      <p:ext uri="{BB962C8B-B14F-4D97-AF65-F5344CB8AC3E}">
        <p14:creationId xmlns:p14="http://schemas.microsoft.com/office/powerpoint/2010/main" val="677471096"/>
      </p:ext>
    </p:extLst>
  </p:cSld>
  <p:transition spd="med" advClick="1">
    <p:fade/>
  </p:transition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d437e2ca2c412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4FBFC-2644-4C77-9386-0C19AD7B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B36CC-C486-438B-AD48-0C3EF9F6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9A306-15B9-4672-A3B0-6D921B0A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评分报告：把分数、原话和建议放在一起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33354-5583-4E65-A095-03542ECE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08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9D17F-661C-41A1-89FB-788BE7AB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67437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1F62C4-D2CF-4BEE-824B-186EACAA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如何理解评分依据 · 说明示例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811A6-1B7D-49DB-9BC3-66095CD9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62865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回答原话：“我负责整理雨天和逆光片段、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写 Python 脚本统计漏检帧。”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这句话交代了任务、个人职责与所用方法，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可以作为理解项目经验的依据。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若要表达得更完整，还应说明发现的问题、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处理结果与自己的改进思考。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75D17-0129-494A-A538-ECCD6F85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764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先看差距，再找原因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7B432-72E4-40B5-B4F1-0D3DB763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38425"/>
            <a:ext cx="3476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每项评分配有回答引用和说明，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学生能定位到具体表达，理解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自己的优势与不足。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2E8E0C-6926-4AAA-8C15-D649B5AE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95725"/>
            <a:ext cx="3476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建议用于下一轮练习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67322C-AF06-44B3-B7BD-43B8AC30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57700"/>
            <a:ext cx="3476625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报告保留改进建议，便于之后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回看。缺少有效信息的项目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显示“未评估”，不按零分处理。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81A93-36D2-4B2F-96C6-398CB225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评分帮助复盘；单次模型评分不等同于就业结论。</a:t>
            </a:r>
          </a:p>
        </p:txBody>
      </p:sp>
    </p:spTree>
    <p:extLst>
      <p:ext uri="{BB962C8B-B14F-4D97-AF65-F5344CB8AC3E}">
        <p14:creationId xmlns:p14="http://schemas.microsoft.com/office/powerpoint/2010/main" val="2108928522"/>
      </p:ext>
    </p:extLst>
  </p:cSld>
  <p:transition spd="med" advClick="1">
    <p:fade/>
  </p:transition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bb56302b245e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01CC5-65EC-4C0C-A9C1-6C1C0C1F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9B01C-2B5F-48D4-860A-2DC79163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7F5C4-5004-4E54-895D-3C8E9D4E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成长追踪：按同一学生、同一岗位回看训练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1E986-FE7B-4714-B7AB-F542A0EB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09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A4B1BA-7D5F-4DBA-BB7F-B7754BDE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81200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记录可回看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5708F-197D-40E3-B946-BA3914CD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81200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保存完成时间、岗位和报告入口。</a:t>
            </a:r>
          </a:p>
          <a:p xmlns:a="http://schemas.openxmlformats.org/drawingml/2006/main">
            <a:pPr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学生能打开历史报告，查看当时的原话依据与改进建议。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B2EB0-1BB7-4F76-BC18-3016D9DD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24175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36C03-2C32-4102-A939-2481C627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248025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变化有前提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7A6A8-E5D6-478E-A440-0F60A2B8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48025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同一学生、同一岗位才放在一起；文字与语音、不同评分口径不混比。</a:t>
            </a:r>
          </a:p>
          <a:p xmlns:a="http://schemas.openxmlformats.org/drawingml/2006/main">
            <a:pPr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只比较两次都有效的项目，缺失数据不补零、不跨缺失点连线。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DB2AA-72D1-4854-AC39-B0C362F1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91000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F7390-F990-4D06-BD8B-784D3F83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14850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反馈可继续用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AFD431-AF7A-476E-8338-B34EE545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14850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最近两次可比训练给出分数变化，帮助学生回看本次表现。</a:t>
            </a:r>
          </a:p>
          <a:p xmlns:a="http://schemas.openxmlformats.org/drawingml/2006/main">
            <a:pPr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没有记录或只有一次训练时说明原因，不生成虚构趋势。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4C563-640B-414D-B28F-B3F987ED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57825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7EEEE2-19B0-45A6-99D1-01D43D3B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“本次比上次变化”描述观测结果，不直接宣称真实能力提高。</a:t>
            </a:r>
          </a:p>
        </p:txBody>
      </p:sp>
    </p:spTree>
    <p:extLst>
      <p:ext uri="{BB962C8B-B14F-4D97-AF65-F5344CB8AC3E}">
        <p14:creationId xmlns:p14="http://schemas.microsoft.com/office/powerpoint/2010/main" val="1277563955"/>
      </p:ext>
    </p:extLst>
  </p:cSld>
  <p:transition spd="med" advClick="1">
    <p:fade/>
  </p:transition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ad38a7e62f4ff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0D622-A2D2-45C3-8A9C-72B2360A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E2EDB0-4F08-4D5A-8172-92B9F2B7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70D2F-AE0F-4481-8DE4-54D928C6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企业初筛：按岗位比较候选表现并核对原报告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D7409-E2FA-495E-9982-120B2E54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10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4FEB9-F11E-428F-A5FD-86F1A437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71675"/>
            <a:ext cx="6619875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EE705-0932-48E8-B856-A527CBDD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43125"/>
            <a:ext cx="6162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从岗位要求到候选名单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7B4902-C4D4-4325-931A-11EB9B3E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76525"/>
            <a:ext cx="6162675" cy="2924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企业选择岗位，查看该岗位下符合条件的训练记录。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每位学生保留最近一份符合资格的报告。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按岗位权重汇总有效评分，再进行候选比较。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点击候选人可查看来源报告，核对评分理由。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6F62D5-5527-4145-882F-207BBB36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66925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名单从训练数据产生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8222E-83DA-4E93-B1FF-BB77B552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19375"/>
            <a:ext cx="3571875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学生完成训练后，报告成为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候选记录来源；同人同岗再次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训练后更新，避免重复入列。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AED042-DF7E-47DC-9CE3-15FBE5BF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14775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排序有明确边界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507FE2-208D-43C8-8ECC-2E076C56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76750"/>
            <a:ext cx="3571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不同岗位与评分口径隔离。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缺失维度不按零分处罚，</a:t>
            </a:r>
          </a:p>
          <a:p xmlns:a="http://schemas.openxmlformats.org/drawingml/2006/main">
            <a:pPr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最终判断保留人工复核。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762D5-8032-4D82-8681-30B122DA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企业看到的分数能够追溯到具体会话和报告，不是单独维护的演示排行榜。</a:t>
            </a:r>
          </a:p>
        </p:txBody>
      </p:sp>
    </p:spTree>
    <p:extLst>
      <p:ext uri="{BB962C8B-B14F-4D97-AF65-F5344CB8AC3E}">
        <p14:creationId xmlns:p14="http://schemas.microsoft.com/office/powerpoint/2010/main" val="171460727"/>
      </p:ext>
    </p:extLst>
  </p:cSld>
  <p:transition spd="med" advClick="1">
    <p:fade/>
  </p:transition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b3c0fbc44b48b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9536F5-79DD-42C6-ABBB-D66DE977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F4A53-64D5-4F59-B562-B1AE7902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388BC-A8D1-4201-B5B8-E80D0349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项目端：同一条数据链支撑双向闭环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27369-E32E-422D-87BF-D60C68C2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11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16A7C5-183E-47E0-928B-D8617CE5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CC3A3-E76F-4F36-96C8-6D9CD49A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学生与岗位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3A915-25A8-452C-80CB-CE0990A3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2A010-31C5-405A-A774-8FC770A1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574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342646-99AE-4089-B7B4-A7E67488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962DE-EB50-40EF-937A-E6470449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会话与回答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3E217-B752-477F-9531-DBE9F90F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92076E-7AD3-4DBE-9261-64D3571C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574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9F42B6-F52C-45DF-AF8C-BE0828EC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BBB064-933F-4C53-9642-2113FAB9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报告与建议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9D4B2F-9607-4C88-A604-4A1AAB50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AF9EC5-2813-4A23-B3D9-F5AE7FF1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574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221DF3-961D-436E-B514-4F9DAD16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208AEA-9E93-4522-8253-73904863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成长与初筛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98624D-744A-40CF-8B40-7CBF0DCC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643B1-D7F5-4A97-AFE8-F6903BF7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一次训练如何贯通两侧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B44E72-509B-4BB1-98DF-F0A4C73F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学生以固定身份进入岗位训练。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系统保存每题回答、语音特征与会话进度。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报告关联这次会话，保留评分和建议。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学生回看历史，企业查看同源候选报告。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A60E6-F5BD-4641-BE62-309CD8A5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14700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0F342B-6AE7-4303-A581-AA31F437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8615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为什么能用于项目落地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1B1738-EEC1-4C10-BDB0-67976328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19550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岗位要求和题库能维护，便于组织训练。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训练记录与报告能追溯，便于核对结果。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学生按建议反复练习，企业据此辅助初筛。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在学校本机或局域网完成展示与使用。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2B6623-6543-4D1C-80D6-84557934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项目端体现的是平台整合与落地能力：学生训练—报告反馈—企业筛选。</a:t>
            </a:r>
          </a:p>
        </p:txBody>
      </p:sp>
    </p:spTree>
    <p:extLst>
      <p:ext uri="{BB962C8B-B14F-4D97-AF65-F5344CB8AC3E}">
        <p14:creationId xmlns:p14="http://schemas.microsoft.com/office/powerpoint/2010/main" val="1440865575"/>
      </p:ext>
    </p:extLst>
  </p:cSld>
  <p:transition spd="med" advClick="1">
    <p:fade/>
  </p:transition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2c5fa564344f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8AF7F7-0CF2-4A66-8F7F-FC372E50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2B0514-2608-4F7F-97CC-6F9AA0B0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82625-C0BC-47D8-943F-7F839800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系统架构：页面、业务、模型与数据各司其职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54FD0-CF04-47C6-B890-672273FA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12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71B2C-D2F2-4D5B-B531-64DE49AF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335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A1722-03D6-49FE-B1A5-C3ED4438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526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交互层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736EAA-EC7F-4B3A-A3EF-7A0A8B62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288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Next.js · TypeScript · ECharts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62E227-9060-463A-BB3C-1CA50BDD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岗位选择、语音问答、评分报告、成长曲线与企业看板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EE09A0-265E-41DA-BFD0-7720FA39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860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8ED47-0CB7-421E-8080-9C1F2FEC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051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业务层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467CB-811B-4518-9D5A-FC075492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813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FastAPI · SQLAlchemy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C059FB-2EB4-480C-9D00-6BA182C6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528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服务端推进面试状态，处理咨询、题库、评分与候选查询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58D154-16C4-431B-BE6E-6B4BA921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17B847-F1F1-4A43-907B-8AF74C5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576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智能层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011D9-1B3C-45AE-91D1-F89FFA22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9338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LLM · ASR · TTS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B886E6-C8CD-45DD-96F6-65F61279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岗位解析与追问、回答理解与评分、语音识别与问题朗读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7843C9-17DB-4A1D-B118-565820E3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94F52F-C830-468C-9C1F-D8AC3191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101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数据层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72BE8E-4362-4E98-816F-01D82BD4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863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SQLite · 会话与报告关联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AE1CA8-FD26-4A4C-A048-FDF40AE3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2578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保存学生、岗位、题目、回答、报告，为回看与初筛供数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4CF120-E3A6-4554-9529-91E4C1E2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模型调用统一封装；业务页面共用后端接口和同一份数据库。</a:t>
            </a:r>
          </a:p>
        </p:txBody>
      </p:sp>
    </p:spTree>
    <p:extLst>
      <p:ext uri="{BB962C8B-B14F-4D97-AF65-F5344CB8AC3E}">
        <p14:creationId xmlns:p14="http://schemas.microsoft.com/office/powerpoint/2010/main" val="89063349"/>
      </p:ext>
    </p:extLst>
  </p:cSld>
  <p:transition spd="med" advClick="1">
    <p:fade/>
  </p:transition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22f70599dc4ee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B0C1B6-D08A-41F3-BFC1-7171FA7B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036385-18FB-4897-A9B8-FCF07938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7AB8A-1A65-4AFC-8185-72B3120E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运行保障：调用失败有备用路径，结果可以核查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7BE0-CB4B-489C-AF3C-6DA94262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13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08602-CA18-4A5A-A222-F53BF034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6D4D6-4FF6-4D6D-AFFB-A425E42A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首选云端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4EDEA6-21A9-4994-8B83-DFAF572D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处理追问、岗位解析与评分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F10BB-7205-4455-AA75-7DEB882B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476500"/>
            <a:ext cx="352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2169A-4270-4AC4-9840-9B3800EE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7BF046-BBB1-411C-99E3-4D8A9E07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备用云端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1A84A1-A1DD-4BEB-B1DC-6B07D464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超时或服务失败时继续尝试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348180-00F2-4490-BE9F-DFB5F67D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76500"/>
            <a:ext cx="352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DFCBF-E9FD-4FA8-BDE5-50E3DCFA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18887-4E84-4563-9041-CFEF0E84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本地模型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1C5659-04CC-460F-AF29-7809BF7E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云端不可用时尝试本地服务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7AEAB-62AA-4A61-B916-868EDC33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76650"/>
            <a:ext cx="5095875" cy="2124075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59360-62E9-4B9F-B322-32BB9F7E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控制等待与失败影响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697ECC-EF32-483A-A581-BFC736CC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81500"/>
            <a:ext cx="463867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每次调用设总时限，为后续回退留出时间。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返回内容先经过格式校验，失败按规则重试。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追问判定失败不阻断当前训练流程。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模型名称与接入地址可通过配置更换。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275B5F-483E-4F81-B87E-44CF40C5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76650"/>
            <a:ext cx="5095875" cy="2124075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B6D0C1-6931-413E-9A99-0ECA44EF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4810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控制评分的可解释性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E43FD3-3B65-4D8C-A37C-948AA3F3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1500"/>
            <a:ext cx="463867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内容评分采用两次独立评估。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引用必须能在学生回答原文中找到。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缺失维度保持未评估，禁止编造依据。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记录模型调用信息，便于排查与成本核算。</a:t>
            </a:r>
          </a:p>
        </p:txBody>
      </p:sp>
    </p:spTree>
    <p:extLst>
      <p:ext uri="{BB962C8B-B14F-4D97-AF65-F5344CB8AC3E}">
        <p14:creationId xmlns:p14="http://schemas.microsoft.com/office/powerpoint/2010/main" val="1886774080"/>
      </p:ext>
    </p:extLst>
  </p:cSld>
  <p:transition spd="med" advClick="1">
    <p:fade/>
  </p:transition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0e1c813dc4c8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7231E-258A-46D9-9C4C-0D754C47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79C926-9ADD-485A-8020-CEFB3570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AE959E-FDAF-4E56-A7E5-3A0FB35E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应用价值：把一次面试变成可复盘的训练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7D715-C7B6-4A67-8130-D297D5A1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14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FD48D-8045-4218-A2CF-CBC6C8B8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5095875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63DCA3-576A-42DA-A9D1-9AA9F119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课堂与就业训练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A29DC4-250F-40CF-B9F8-721DB596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4638675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职业认知课：用岗位地图理解工作任务。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面试训练课：组织学生按岗位完成模拟问答。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课后复盘：对照原话与建议重写回答。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持续训练：同人同岗回看历史记录与变化。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9911C-271D-45D9-9F67-7D036DD1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5095875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79037-D08A-478D-A886-3C655915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240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企业初筛与实施方式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B2C219-9B0A-4FA1-99FA-F735FD31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57475"/>
            <a:ext cx="4638675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企业维护岗位题库和评价重点。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通过同源报告了解候选人的训练表现。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使用本机或局域网部署组织集中体验。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推广到新岗位时，需要维护题库和领域知识。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B542F-06A1-4378-AD29-D3075F2C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724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三个具体特点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7A9D8-E7D5-4E23-BC2D-95E0569F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334000"/>
            <a:ext cx="1066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岗位问题有针对性  ·  评分理由能回到原话  ·  学生与企业使用同源报告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DC1B3C-AB17-4167-B85D-016CABFA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价值来自训练与筛选流程的衔接；效果仍需结合实际使用持续衡量。</a:t>
            </a:r>
          </a:p>
        </p:txBody>
      </p:sp>
    </p:spTree>
    <p:extLst>
      <p:ext uri="{BB962C8B-B14F-4D97-AF65-F5344CB8AC3E}">
        <p14:creationId xmlns:p14="http://schemas.microsoft.com/office/powerpoint/2010/main" val="365390785"/>
      </p:ext>
    </p:extLst>
  </p:cSld>
  <p:transition spd="med" advClick="1">
    <p:fade/>
  </p:transition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89044641d34b1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9A994-823B-4FEC-B02A-95B1D3FF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14375"/>
            <a:ext cx="23526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67F1FF-C84A-48B2-A74F-F6DD5D79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762000"/>
            <a:ext cx="2066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智驾未来 · AI面试仓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7A520-22CE-42EE-B007-B12D3BDD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14525"/>
            <a:ext cx="1076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让学生知道如何改进，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D124C-6BD5-4F1A-9E6E-0C3A1E41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76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让企业看见判断依据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5D4DB-8839-4831-AC92-FA88BDB0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48125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岗位认知与学习规划 → 模拟面试与反馈 → 成长追踪与企业初筛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B11FE-A39F-4B37-A082-C93AC1F5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0429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题库围绕岗位维护，训练过程留有记录，评分结果能够追溯。</a:t>
            </a:r>
          </a:p>
          <a:p xmlns:a="http://schemas.openxmlformats.org/drawingml/2006/main">
            <a:pPr>
              <a:def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用一条贯通的数据链，形成可落地的 AI 面试仓解决方案。</a:t>
            </a:r>
          </a:p>
        </p:txBody>
      </p:sp>
    </p:spTree>
    <p:extLst>
      <p:ext uri="{BB962C8B-B14F-4D97-AF65-F5344CB8AC3E}">
        <p14:creationId xmlns:p14="http://schemas.microsoft.com/office/powerpoint/2010/main" val="1661322252"/>
      </p:ext>
    </p:extLst>
  </p:cSld>
  <p:transition spd="med" advClick="1">
    <p:fade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2026-09-28T04:07:38.6480000Z</dcterms:created>
  <dcterms:modified xsi:type="dcterms:W3CDTF">2026-09-28T04:07:38.6480000Z</dcterms:modified>
</coreProperties>
</file>