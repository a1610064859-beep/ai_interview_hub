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d9315eae8d43c9" /><Relationship Type="http://schemas.openxmlformats.org/officeDocument/2006/relationships/extended-properties" Target="/docProps/app.xml" Id="Rf28751bd78164ace" /><Relationship Type="http://schemas.openxmlformats.org/officeDocument/2006/relationships/officeDocument" Target="/ppt/presentation.xml" Id="R66d3bf2620ed4b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75bcdc8504644"/>
  </p:sldMasterIdLst>
  <p:notesMasterIdLst>
    <p:notesMasterId xmlns:r="http://schemas.openxmlformats.org/officeDocument/2006/relationships" r:id="R109dcc13008d4b93"/>
  </p:notesMasterIdLst>
  <p:sldIdLst>
    <p:sldId xmlns:r="http://schemas.openxmlformats.org/officeDocument/2006/relationships" id="256" r:id="Rc81a8d7c2e424c07"/>
    <p:sldId xmlns:r="http://schemas.openxmlformats.org/officeDocument/2006/relationships" id="257" r:id="Rd0104d578a244f2d"/>
    <p:sldId xmlns:r="http://schemas.openxmlformats.org/officeDocument/2006/relationships" id="258" r:id="Rab688bd403b54f01"/>
    <p:sldId xmlns:r="http://schemas.openxmlformats.org/officeDocument/2006/relationships" id="259" r:id="Rb73c2ed1938b4d51"/>
    <p:sldId xmlns:r="http://schemas.openxmlformats.org/officeDocument/2006/relationships" id="260" r:id="Re3e188066df744a6"/>
    <p:sldId xmlns:r="http://schemas.openxmlformats.org/officeDocument/2006/relationships" id="261" r:id="Re67254d9250f4ccf"/>
    <p:sldId xmlns:r="http://schemas.openxmlformats.org/officeDocument/2006/relationships" id="262" r:id="R7f4949be3f9542ab"/>
    <p:sldId xmlns:r="http://schemas.openxmlformats.org/officeDocument/2006/relationships" id="263" r:id="R0b730c0b1c2e4f38"/>
    <p:sldId xmlns:r="http://schemas.openxmlformats.org/officeDocument/2006/relationships" id="264" r:id="Rf679b1cb77be4c76"/>
    <p:sldId xmlns:r="http://schemas.openxmlformats.org/officeDocument/2006/relationships" id="265" r:id="Rd95403aaf89d43df"/>
    <p:sldId xmlns:r="http://schemas.openxmlformats.org/officeDocument/2006/relationships" id="266" r:id="Rbcb5b1d566ce451f"/>
    <p:sldId xmlns:r="http://schemas.openxmlformats.org/officeDocument/2006/relationships" id="267" r:id="Rff0cb0b0ebaa47d5"/>
    <p:sldId xmlns:r="http://schemas.openxmlformats.org/officeDocument/2006/relationships" id="268" r:id="Rcac4bc2a3bc54a31"/>
    <p:sldId xmlns:r="http://schemas.openxmlformats.org/officeDocument/2006/relationships" id="269" r:id="R0098fd533a924059"/>
    <p:sldId xmlns:r="http://schemas.openxmlformats.org/officeDocument/2006/relationships" id="270" r:id="R628d46909594406a"/>
    <p:sldId xmlns:r="http://schemas.openxmlformats.org/officeDocument/2006/relationships" id="271" r:id="R113d9d12a6884b85"/>
    <p:sldId xmlns:r="http://schemas.openxmlformats.org/officeDocument/2006/relationships" id="272" r:id="Rafdb348718f44ccf"/>
    <p:sldId xmlns:r="http://schemas.openxmlformats.org/officeDocument/2006/relationships" id="273" r:id="R7b1b337c8a0849f3"/>
    <p:sldId xmlns:r="http://schemas.openxmlformats.org/officeDocument/2006/relationships" id="274" r:id="Rfb7210849e03418e"/>
    <p:sldId xmlns:r="http://schemas.openxmlformats.org/officeDocument/2006/relationships" id="275" r:id="Re3b0e114a99c4b94"/>
    <p:sldId xmlns:r="http://schemas.openxmlformats.org/officeDocument/2006/relationships" id="276" r:id="Rfe02e98c9c554c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49febaff9a4084" /><Relationship Type="http://schemas.openxmlformats.org/officeDocument/2006/relationships/slideMaster" Target="/ppt/slideMasters/slideMaster1.xml" Id="R36775bcdc8504644" /><Relationship Type="http://schemas.openxmlformats.org/officeDocument/2006/relationships/notesMaster" Target="/ppt/notesMasters/notesMaster1.xml" Id="R109dcc13008d4b93" /><Relationship Type="http://schemas.openxmlformats.org/officeDocument/2006/relationships/presProps" Target="/ppt/presProps.xml" Id="Re5ded021f991438a" /><Relationship Type="http://schemas.openxmlformats.org/officeDocument/2006/relationships/tableStyles" Target="/ppt/tableStyles.xml" Id="R818960b277cd45ae" /><Relationship Type="http://schemas.openxmlformats.org/officeDocument/2006/relationships/slide" Target="/ppt/slides/slide1.xml" Id="Rc81a8d7c2e424c07" /><Relationship Type="http://schemas.openxmlformats.org/officeDocument/2006/relationships/slide" Target="/ppt/slides/slide2.xml" Id="Rd0104d578a244f2d" /><Relationship Type="http://schemas.openxmlformats.org/officeDocument/2006/relationships/slide" Target="/ppt/slides/slide3.xml" Id="Rab688bd403b54f01" /><Relationship Type="http://schemas.openxmlformats.org/officeDocument/2006/relationships/slide" Target="/ppt/slides/slide4.xml" Id="Rb73c2ed1938b4d51" /><Relationship Type="http://schemas.openxmlformats.org/officeDocument/2006/relationships/slide" Target="/ppt/slides/slide5.xml" Id="Re3e188066df744a6" /><Relationship Type="http://schemas.openxmlformats.org/officeDocument/2006/relationships/slide" Target="/ppt/slides/slide6.xml" Id="Re67254d9250f4ccf" /><Relationship Type="http://schemas.openxmlformats.org/officeDocument/2006/relationships/slide" Target="/ppt/slides/slide7.xml" Id="R7f4949be3f9542ab" /><Relationship Type="http://schemas.openxmlformats.org/officeDocument/2006/relationships/slide" Target="/ppt/slides/slide8.xml" Id="R0b730c0b1c2e4f38" /><Relationship Type="http://schemas.openxmlformats.org/officeDocument/2006/relationships/slide" Target="/ppt/slides/slide9.xml" Id="Rf679b1cb77be4c76" /><Relationship Type="http://schemas.openxmlformats.org/officeDocument/2006/relationships/slide" Target="/ppt/slides/slide10.xml" Id="Rd95403aaf89d43df" /><Relationship Type="http://schemas.openxmlformats.org/officeDocument/2006/relationships/slide" Target="/ppt/slides/slide11.xml" Id="Rbcb5b1d566ce451f" /><Relationship Type="http://schemas.openxmlformats.org/officeDocument/2006/relationships/slide" Target="/ppt/slides/slide12.xml" Id="Rff0cb0b0ebaa47d5" /><Relationship Type="http://schemas.openxmlformats.org/officeDocument/2006/relationships/slide" Target="/ppt/slides/slide13.xml" Id="Rcac4bc2a3bc54a31" /><Relationship Type="http://schemas.openxmlformats.org/officeDocument/2006/relationships/slide" Target="/ppt/slides/slide14.xml" Id="R0098fd533a924059" /><Relationship Type="http://schemas.openxmlformats.org/officeDocument/2006/relationships/slide" Target="/ppt/slides/slide15.xml" Id="R628d46909594406a" /><Relationship Type="http://schemas.openxmlformats.org/officeDocument/2006/relationships/slide" Target="/ppt/slides/slide16.xml" Id="R113d9d12a6884b85" /><Relationship Type="http://schemas.openxmlformats.org/officeDocument/2006/relationships/slide" Target="/ppt/slides/slide17.xml" Id="Rafdb348718f44ccf" /><Relationship Type="http://schemas.openxmlformats.org/officeDocument/2006/relationships/slide" Target="/ppt/slides/slide18.xml" Id="R7b1b337c8a0849f3" /><Relationship Type="http://schemas.openxmlformats.org/officeDocument/2006/relationships/slide" Target="/ppt/slides/slide19.xml" Id="Rfb7210849e03418e" /><Relationship Type="http://schemas.openxmlformats.org/officeDocument/2006/relationships/slide" Target="/ppt/slides/slide20.xml" Id="Re3b0e114a99c4b94" /><Relationship Type="http://schemas.openxmlformats.org/officeDocument/2006/relationships/slide" Target="/ppt/slides/slide21.xml" Id="Rfe02e98c9c554c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daa84ed3440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08e65cd0b942f4" /><Relationship Type="http://schemas.openxmlformats.org/officeDocument/2006/relationships/notesMaster" Target="/ppt/notesMasters/notesMaster1.xml" Id="Recc1acd824844c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fc37c4787b4651" /><Relationship Type="http://schemas.openxmlformats.org/officeDocument/2006/relationships/notesMaster" Target="/ppt/notesMasters/notesMaster1.xml" Id="Re0d32b829cb049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c97649bd9947a6" /><Relationship Type="http://schemas.openxmlformats.org/officeDocument/2006/relationships/notesMaster" Target="/ppt/notesMasters/notesMaster1.xml" Id="R91a017f852c249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c05a6f65ce4751" /><Relationship Type="http://schemas.openxmlformats.org/officeDocument/2006/relationships/notesMaster" Target="/ppt/notesMasters/notesMaster1.xml" Id="Rd7a8bf34d04042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0aba632a454524" /><Relationship Type="http://schemas.openxmlformats.org/officeDocument/2006/relationships/notesMaster" Target="/ppt/notesMasters/notesMaster1.xml" Id="R3c6aa16058c347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0c0d678e0e4692" /><Relationship Type="http://schemas.openxmlformats.org/officeDocument/2006/relationships/notesMaster" Target="/ppt/notesMasters/notesMaster1.xml" Id="Ra3cc3f30954944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f99446348a47d0" /><Relationship Type="http://schemas.openxmlformats.org/officeDocument/2006/relationships/notesMaster" Target="/ppt/notesMasters/notesMaster1.xml" Id="R9be8ccbf414446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b6a3a9b63346f2" /><Relationship Type="http://schemas.openxmlformats.org/officeDocument/2006/relationships/notesMaster" Target="/ppt/notesMasters/notesMaster1.xml" Id="R46b826a0558a41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de5016b1684042" /><Relationship Type="http://schemas.openxmlformats.org/officeDocument/2006/relationships/notesMaster" Target="/ppt/notesMasters/notesMaster1.xml" Id="Rbd2f85824a344d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a2c19231884a01" /><Relationship Type="http://schemas.openxmlformats.org/officeDocument/2006/relationships/notesMaster" Target="/ppt/notesMasters/notesMaster1.xml" Id="R3bdd301e6b314c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04c6f1d9764f1c" /><Relationship Type="http://schemas.openxmlformats.org/officeDocument/2006/relationships/notesMaster" Target="/ppt/notesMasters/notesMaster1.xml" Id="Rc5d16dd835f941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7362af791349fc" /><Relationship Type="http://schemas.openxmlformats.org/officeDocument/2006/relationships/notesMaster" Target="/ppt/notesMasters/notesMaster1.xml" Id="R9ee17541efa746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fd743d4e034f0b" /><Relationship Type="http://schemas.openxmlformats.org/officeDocument/2006/relationships/notesMaster" Target="/ppt/notesMasters/notesMaster1.xml" Id="R97e03d5a811b45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ff6a22d0d64e7e" /><Relationship Type="http://schemas.openxmlformats.org/officeDocument/2006/relationships/notesMaster" Target="/ppt/notesMasters/notesMaster1.xml" Id="R25aec308230148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73624bda914bf9" /><Relationship Type="http://schemas.openxmlformats.org/officeDocument/2006/relationships/notesMaster" Target="/ppt/notesMasters/notesMaster1.xml" Id="Ra853f637ddd849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8af87e3225412f" /><Relationship Type="http://schemas.openxmlformats.org/officeDocument/2006/relationships/notesMaster" Target="/ppt/notesMasters/notesMaster1.xml" Id="Rf2714850e8194b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fc2c4e83274f3e" /><Relationship Type="http://schemas.openxmlformats.org/officeDocument/2006/relationships/notesMaster" Target="/ppt/notesMasters/notesMaster1.xml" Id="Rc156fc69684f49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af83b7d64a47e4" /><Relationship Type="http://schemas.openxmlformats.org/officeDocument/2006/relationships/notesMaster" Target="/ppt/notesMasters/notesMaster1.xml" Id="R61f7eff21a234b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ea8ca59cc14ac4" /><Relationship Type="http://schemas.openxmlformats.org/officeDocument/2006/relationships/notesMaster" Target="/ppt/notesMasters/notesMaster1.xml" Id="R23540497ba1d4d6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8dcccfc2ea4dcc" /><Relationship Type="http://schemas.openxmlformats.org/officeDocument/2006/relationships/notesMaster" Target="/ppt/notesMasters/notesMaster1.xml" Id="R5f5b760d705e430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60c8b1637f4137" /><Relationship Type="http://schemas.openxmlformats.org/officeDocument/2006/relationships/notesMaster" Target="/ppt/notesMasters/notesMaster1.xml" Id="R249c7c3efc9541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命题05原文面向一般职教学生与企业。产品定位按用户要求采用通用岗位表述；当前种子岗位及部分提示词为智驾、三电。未声称已完成跨行业验证。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第1–2页背景、核心问题与预期成果。下列成效是目标与产品作用，不是统计效果。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server/api/jobs.py、sessions.py、reports.py、growth.py、recruiter.py 与 counsel.py。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server/services/counsel.py 与 data 中咨询静态资源；咨询输出岗位地图、差距、年级学习路径及训练入口。示例为使用情境，不是用户实测。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server/services/jd_parse.py；server/api/jobs.py:229–384。JD解析先返回草案，题库可增删改；JD评估建议与候选排序权重区别于固定正式评分字段。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web/app/page.tsx；server/api/sessions.py；server/services/orchestrator.py。真实界面截图若显示岗位样例，不代表行业范围限制。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web/lib/recorder.ts；server/services/audio.py、asr.py、tts.py、scoring.py。声学特征取采集时长、停顿计数与填充词，不使用ASR词级时间戳。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server/services/scoring.py；回答例句引用 docs/test-answers/05-course-project.md 虚构样本05；解释与建议是说明示例，非实测评分输出。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server/services/growth.py；docs/growth-tracking-spec.md。比较要求输入模式、评分口径、有效维度可比。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server/services/recruiter.py；server/api/recruiter.py。候选数据联查 Session、Report、User；缺维资格、权重重归一化及口径隔离。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项目端预期成果；server/models.py 的users/jobs/questions/sessions/answers/reports关系；企业与成长服务。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web/package.json；requirements.txt；server/main.py；server/services/llm.py；server/models.py。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server/services/llm.py timeout与budget；orchestrator.py失败进入下一题；scoring.py双评及原文证据校验；模型名称URL通过配置。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命题05预期成果与AGENTS部署范围。使用价值为产品机制与预期作用，未声称已有成本/就业率改善实测。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命题05学生端、企业端、项目端目标总结。不含下一步行动，不以未获得的实测数值宣称成效。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7ec2be7b340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8909b6b51b4440" /><Relationship Type="http://schemas.openxmlformats.org/officeDocument/2006/relationships/slideLayout" Target="/ppt/slideLayouts/slideLayout1.xml" Id="R55e93729b1a24e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e93729b1a2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c404812e04a46" /><Relationship Type="http://schemas.openxmlformats.org/officeDocument/2006/relationships/image" Target="/ppt/media/image.jpeg" Id="R5a09568d82f448ac" /><Relationship Type="http://schemas.openxmlformats.org/officeDocument/2006/relationships/notesSlide" Target="/ppt/notesSlides/notesSlide1.xml" Id="R11cac252b13a4d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8c919e77a4f4c" /><Relationship Type="http://schemas.openxmlformats.org/officeDocument/2006/relationships/image" Target="/ppt/media/image2.jpeg" Id="R716fb684a2a14e63" /><Relationship Type="http://schemas.openxmlformats.org/officeDocument/2006/relationships/notesSlide" Target="/ppt/notesSlides/notesSlide2.xml" Id="R53a05c2265fb4e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387dc83264d10" /><Relationship Type="http://schemas.openxmlformats.org/officeDocument/2006/relationships/image" Target="/ppt/media/image3.jpeg" Id="Rf4aa44c67c9e4add" /><Relationship Type="http://schemas.openxmlformats.org/officeDocument/2006/relationships/notesSlide" Target="/ppt/notesSlides/notesSlide3.xml" Id="Rb5140085110f4f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5bc7515af44ba" /><Relationship Type="http://schemas.openxmlformats.org/officeDocument/2006/relationships/image" Target="/ppt/media/image3.jpeg" Id="R16fa30f62407433f" /><Relationship Type="http://schemas.openxmlformats.org/officeDocument/2006/relationships/notesSlide" Target="/ppt/notesSlides/notesSlide4.xml" Id="Rf6b47025f96f4c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4aa2519f44635" /><Relationship Type="http://schemas.openxmlformats.org/officeDocument/2006/relationships/image" Target="/ppt/media/image4.jpeg" Id="R55cde9b9632346a5" /><Relationship Type="http://schemas.openxmlformats.org/officeDocument/2006/relationships/notesSlide" Target="/ppt/notesSlides/notesSlide5.xml" Id="R2779d762703749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220f788f646d9" /><Relationship Type="http://schemas.openxmlformats.org/officeDocument/2006/relationships/image" Target="/ppt/media/image5.jpeg" Id="Rc791be2325e54c2f" /><Relationship Type="http://schemas.openxmlformats.org/officeDocument/2006/relationships/notesSlide" Target="/ppt/notesSlides/notesSlide6.xml" Id="Rf00326c7540b41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60179964749a2" /><Relationship Type="http://schemas.openxmlformats.org/officeDocument/2006/relationships/image" Target="/ppt/media/image6.jpeg" Id="Re6a2ac125d084861" /><Relationship Type="http://schemas.openxmlformats.org/officeDocument/2006/relationships/notesSlide" Target="/ppt/notesSlides/notesSlide7.xml" Id="Rdf9307e6a9c74c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7a0e677ae4451" /><Relationship Type="http://schemas.openxmlformats.org/officeDocument/2006/relationships/image" Target="/ppt/media/image7.jpeg" Id="R9e18668b3f654321" /><Relationship Type="http://schemas.openxmlformats.org/officeDocument/2006/relationships/notesSlide" Target="/ppt/notesSlides/notesSlide8.xml" Id="R10b884787b5c48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5d4741cb14d8d" /><Relationship Type="http://schemas.openxmlformats.org/officeDocument/2006/relationships/image" Target="/ppt/media/image8.jpeg" Id="R95682a20b8df4296" /><Relationship Type="http://schemas.openxmlformats.org/officeDocument/2006/relationships/image" Target="/ppt/media/image.png" Id="R96f907c037134424" /><Relationship Type="http://schemas.openxmlformats.org/officeDocument/2006/relationships/notesSlide" Target="/ppt/notesSlides/notesSlide9.xml" Id="R06de833bd1d24f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e7898306447e1" /><Relationship Type="http://schemas.openxmlformats.org/officeDocument/2006/relationships/image" Target="/ppt/media/image9.jpeg" Id="R01592855fc1e4a07" /><Relationship Type="http://schemas.openxmlformats.org/officeDocument/2006/relationships/notesSlide" Target="/ppt/notesSlides/notesSlide10.xml" Id="R372a135cdcca4d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cd6c823bc4ddb" /><Relationship Type="http://schemas.openxmlformats.org/officeDocument/2006/relationships/image" Target="/ppt/media/image10.jpeg" Id="R3fcd34cbdc5148de" /><Relationship Type="http://schemas.openxmlformats.org/officeDocument/2006/relationships/notesSlide" Target="/ppt/notesSlides/notesSlide11.xml" Id="Rb9d26bd8319f49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b630dbec44e8e" /><Relationship Type="http://schemas.openxmlformats.org/officeDocument/2006/relationships/image" Target="/ppt/media/image8.jpeg" Id="Rbd87e9a1507347ca" /><Relationship Type="http://schemas.openxmlformats.org/officeDocument/2006/relationships/image" Target="/ppt/media/image2.png" Id="Rd976a53dd05247ea" /><Relationship Type="http://schemas.openxmlformats.org/officeDocument/2006/relationships/notesSlide" Target="/ppt/notesSlides/notesSlide12.xml" Id="R8fae7901ee9c4d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4133c861a48ff" /><Relationship Type="http://schemas.openxmlformats.org/officeDocument/2006/relationships/image" Target="/ppt/media/image8.jpeg" Id="R49010cfe9c134079" /><Relationship Type="http://schemas.openxmlformats.org/officeDocument/2006/relationships/notesSlide" Target="/ppt/notesSlides/notesSlide13.xml" Id="Rdcbebae3bf244b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c6be56fc948c0" /><Relationship Type="http://schemas.openxmlformats.org/officeDocument/2006/relationships/image" Target="/ppt/media/image8.jpeg" Id="R7e41b25a32bb4ecb" /><Relationship Type="http://schemas.openxmlformats.org/officeDocument/2006/relationships/image" Target="/ppt/media/image3.png" Id="Refe7aaa4920d4fdb" /><Relationship Type="http://schemas.openxmlformats.org/officeDocument/2006/relationships/notesSlide" Target="/ppt/notesSlides/notesSlide14.xml" Id="Rcc3bfea1024141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8d5370dbf4c55" /><Relationship Type="http://schemas.openxmlformats.org/officeDocument/2006/relationships/image" Target="/ppt/media/image11.jpeg" Id="R7c7a0d1789dc4507" /><Relationship Type="http://schemas.openxmlformats.org/officeDocument/2006/relationships/notesSlide" Target="/ppt/notesSlides/notesSlide15.xml" Id="Rb251f49bd0e44f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f50d5f147473a" /><Relationship Type="http://schemas.openxmlformats.org/officeDocument/2006/relationships/image" Target="/ppt/media/image12.jpeg" Id="Rd42e72360e89443f" /><Relationship Type="http://schemas.openxmlformats.org/officeDocument/2006/relationships/notesSlide" Target="/ppt/notesSlides/notesSlide16.xml" Id="R05d4d8206e3843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7d48c60a24a2a" /><Relationship Type="http://schemas.openxmlformats.org/officeDocument/2006/relationships/image" Target="/ppt/media/image13.jpeg" Id="R17afca3c1ece4e50" /><Relationship Type="http://schemas.openxmlformats.org/officeDocument/2006/relationships/notesSlide" Target="/ppt/notesSlides/notesSlide17.xml" Id="R877930d1571c43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2a2fff35b490d" /><Relationship Type="http://schemas.openxmlformats.org/officeDocument/2006/relationships/image" Target="/ppt/media/image14.jpeg" Id="R0161f22c7ffe4b13" /><Relationship Type="http://schemas.openxmlformats.org/officeDocument/2006/relationships/notesSlide" Target="/ppt/notesSlides/notesSlide18.xml" Id="R56ee43fcc9aa42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6e2b7300846db" /><Relationship Type="http://schemas.openxmlformats.org/officeDocument/2006/relationships/image" Target="/ppt/media/image15.jpeg" Id="Rc2dde8d051544176" /><Relationship Type="http://schemas.openxmlformats.org/officeDocument/2006/relationships/notesSlide" Target="/ppt/notesSlides/notesSlide19.xml" Id="R06ddd5cba3a249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7fa86a4b84057" /><Relationship Type="http://schemas.openxmlformats.org/officeDocument/2006/relationships/image" Target="/ppt/media/image16.jpeg" Id="R78adab0c50fd4eb6" /><Relationship Type="http://schemas.openxmlformats.org/officeDocument/2006/relationships/notesSlide" Target="/ppt/notesSlides/notesSlide20.xml" Id="Rfda65c9b672f45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4bc54ea27466f" /><Relationship Type="http://schemas.openxmlformats.org/officeDocument/2006/relationships/image" Target="/ppt/media/image17.jpeg" Id="R3cbeff21e0924912" /><Relationship Type="http://schemas.openxmlformats.org/officeDocument/2006/relationships/notesSlide" Target="/ppt/notesSlides/notesSlide21.xml" Id="R9f5b6d21595848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9568d82f448a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5B03-E9E3-49B3-8D81-0D66053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00100"/>
            <a:ext cx="27527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EB782-AE14-41B8-BCAB-A649436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77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 · 智能面试仓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80479-A1A2-46A7-A94D-08B29DA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CA35-820B-4FE5-9054-C734400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AI面试仓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6447-05C2-429D-A465-00C2B908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面向岗位需求的面试训练与人才初筛平台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B619-2472-44C7-9623-2BF4119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 · 模拟面试 · 评分反馈 · 成长追踪 · 企业初筛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2B3D-F4AC-4AE2-B305-A58B548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DFE5D-F8DF-4F8B-9EAF-BA64B78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小队：芝麻队　队员：张庭辉、魏孜艺、陈俊龙、王云遥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0B418-89E5-4721-B2BD-FFD9492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01 / 21</a:t>
            </a:r>
          </a:p>
        </p:txBody>
      </p:sp>
    </p:spTree>
    <p:extLst>
      <p:ext uri="{BB962C8B-B14F-4D97-AF65-F5344CB8AC3E}">
        <p14:creationId xmlns:p14="http://schemas.microsoft.com/office/powerpoint/2010/main" val="1371496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fb684a2a14e6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E3640-76C2-4C92-95CA-F2C6B10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638300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2587-FC8C-49B4-91AD-91CEAD1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4A85-DA48-4521-B3D1-EC2BD9F5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从命题目标，到新生训练，再到企业闭环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E1CC-AD78-4D7A-A4C0-2D130CB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六个部分，串起项目需求、训练反馈、成长追踪与实际应用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A6A4-FEDB-4D42-B129-DA91F8B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3EE48-A992-4501-BF22-AEF7FA0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BC4B7-C6E9-4CEA-9EFA-3718E2C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项目要求与平台流程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4537E-9923-445C-B3EB-4DFEAB8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项目目标 · 三端职责 · 总体工作流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3701-504B-4F2E-97C0-C8801083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03–05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A7C5-FBAB-4563-8869-66F0A9E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23C16-3F34-463C-B3FB-FBDE433D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B86A5-D883-428B-ABCD-57B538A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新生学习与岗位训练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A5251-EF6C-4CA4-A5D6-7B9E5AE0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岗位认知 · STAR方法 · 逐题反馈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BF070-923D-437E-B7FB-D82E856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06–07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68EF3-B58E-472D-98C2-F62A524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F994C-B2F3-4E43-8B6B-E857EFC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DF2A1-BCF0-4D31-88B1-7CFBD4F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题库配置与模拟面试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C7747-71C3-41FF-B420-534A22E6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种子岗位 · 六题训练 · 会话推进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97CA4-9F7F-4C3C-B5C1-A059036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08–10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3D36E-F338-40EE-8363-05D73A7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7867-237F-4ADE-A5DE-816360F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1D2B1-2852-4BCF-A052-DACDA9F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语音链路与评分反馈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AC95C-A7A5-41D6-8F22-25A07F2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语音识别 · 多维评分 · 原话依据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BF9A2-6434-494A-8CDD-631A3B0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11–14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F03D3-60B2-4B3F-8ABD-3FA1A33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A2A5-CDBE-4F57-BD50-BED7A68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CF6C7-77F8-4EB5-892B-7B07C15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成长追踪与企业闭环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2A550-D510-4A17-9380-8631D01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同岗历史 · 报告追溯 · 企业初筛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EB83B-5AE3-471C-A158-872C5B5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15–17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4522C-8623-419A-936D-3F0D141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0E8AF-622E-4E65-9137-9E6A2D4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4EBCA-04F8-493C-9037-EC7F93F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技术实现、应用价值与总结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17FAD-1D4B-4CE8-8C6B-0EA92CB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系统架构 · 模型回退 · 项目总结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637BCB-9A57-40DA-B2E6-6FA2FF4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18–21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7574A-CB91-43C0-B446-A4B914A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</p:spTree>
    <p:extLst>
      <p:ext uri="{BB962C8B-B14F-4D97-AF65-F5344CB8AC3E}">
        <p14:creationId xmlns:p14="http://schemas.microsoft.com/office/powerpoint/2010/main" val="1216645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a44c67c9e4a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命题要求：服务新生、学生与企业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先认识智能汽车岗位，再选择训练方向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根据专业、年级与兴趣查看岗位地图和学习路径；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进入推荐岗位练习，不为咨询生成面试分数。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面试练习缺少可核对的反馈与复盘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围绕岗位完成六题语音或文字问答；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按原话依据看报告，持续回看同岗训练。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仅凭简历难以比较岗位能力与表达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维护岗位题库和评估重点；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查看来自真实训练的候选报告与回答依据。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核心目标：学生知道如何改进，企业能核对候选表现的来源。</a:t>
            </a:r>
          </a:p>
        </p:txBody>
      </p:sp>
    </p:spTree>
    <p:extLst>
      <p:ext uri="{BB962C8B-B14F-4D97-AF65-F5344CB8AC3E}">
        <p14:creationId xmlns:p14="http://schemas.microsoft.com/office/powerpoint/2010/main" val="14860183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a30f6240743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三端协同：岗位认知、训练复盘与候选初筛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岗位地图连接学习路径和训练入口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了解两类种子岗位的任务与能力差距；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从推荐岗位进入训练，按学习菜单练习回答。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六题训练、新生反馈与同岗成长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以本人身份完成语音或文字面试，查看原话依据；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同人同岗回看历史，按可比口径观察变化。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岗位配置与初筛都能回到原报告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输入岗位描述生成题库草案，维护考察重点；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查看同岗候选记录，打开原会话和报告核对。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三端共用岗位、会话与报告数据；企业候选结果来自已完成的学生训练。</a:t>
            </a:r>
          </a:p>
        </p:txBody>
      </p:sp>
    </p:spTree>
    <p:extLst>
      <p:ext uri="{BB962C8B-B14F-4D97-AF65-F5344CB8AC3E}">
        <p14:creationId xmlns:p14="http://schemas.microsoft.com/office/powerpoint/2010/main" val="1883266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de9b9632346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F1655-4F24-4EBD-A2F5-575EEE9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C0E4-BF5E-4B5C-8C2E-4EDBD7F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C587-29EF-47CA-BCED-9925136B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平台流程：从岗位要求到训练反馈与初筛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AF23-295A-4E4E-9A82-19F4E41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F2DF2-A28C-4B91-BDBC-10C955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AC3A-5F34-42B7-A2EB-32773B1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CB6E-1356-43D0-8B39-6DE014E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65078-D19D-4634-9642-9B183D9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2A0A-64D3-43A8-98F8-1E6EF35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D201-B8F8-4334-BD94-0815C8E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0B257-AAA4-41B2-AC58-F125F00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7F7AB-12CD-4D26-89E4-967D122D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E158C-7DEE-40E9-B579-FF261DF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CF43E-1BF3-42CC-B4AF-88D96AB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FB095-838F-4401-8879-8926B116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92B37-8313-441D-96A5-7A8985C3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DD8C5-774D-4D53-A4C9-E0709270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F9612-A144-43DB-A61F-C30E3F8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0127C-B08E-49B2-A4B4-AC655003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2995E-30A5-40E7-B6B3-D1D5C044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5D96C-E01D-419C-8466-D42C423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BC9E3-6393-4284-837C-0973E44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950D2-43F3-454D-9E2E-B57A849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7B54A-0B8A-4AEE-B34E-E866743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学生如何使用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AA6AD-59F1-4F37-9E0B-A07CD29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新生先做职业咨询，找到适合的训练岗位。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每题回答后查看问题分析和改进建议；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再次训练后，可回看同岗位的历史变化。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7348-B9E0-420E-B6DA-8B8E898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CA1F8-F320-431E-865F-7398980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企业与项目如何衔接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5535E-5906-45EA-94C3-DBF2967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候选数据来自已完成的训练报告；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点击候选项，可回到原会话与报告核对。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83103-9EC6-4DB4-B9C3-E6F3DFF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学生复盘与企业初筛使用同一份训练报告，候选记录可追溯到真实会话。</a:t>
            </a:r>
          </a:p>
        </p:txBody>
      </p:sp>
    </p:spTree>
    <p:extLst>
      <p:ext uri="{BB962C8B-B14F-4D97-AF65-F5344CB8AC3E}">
        <p14:creationId xmlns:p14="http://schemas.microsoft.com/office/powerpoint/2010/main" val="1397311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1be2325e54c2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5ACA-887F-4851-B474-D9F7884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CF50B-D637-40FE-83AB-74143FB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B1DA4-9E53-471C-B604-1F4852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新生咨询：把“学什么”连接到“做什么”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7EFF-0FCE-4A9A-B570-8D6F380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23AA6-AC73-488F-B31D-E4E49EF0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BB369-CAC9-4A07-A3BB-F63BC40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输入：学生基本情况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1C9B-A79C-473C-AE29-2B6DB69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3162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选择专业、年级与兴趣，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说明当前关注的工作方向。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示例：一年级，喜欢动手测试，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希望了解技术类岗位。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DA53A-48FB-4807-A733-ECB232E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6667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FFFAA-91BE-4814-ACAE-7BD8CA54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输出：岗位地图、学习路径与面试准备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29278-0C42-4860-8A05-E46A1BD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57475"/>
            <a:ext cx="6210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岗位地图：了解典型任务、岗位要求和推荐理由。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能力差距：对照现有基础，找出建议补的知识与工具。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学习路径示例：打基础 → 学工具 → 做项目 → 岗位训练。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面试学习菜单：题意理解、自我介绍、STAR经历题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（情境、任务、行动、结果）、追问应答和面试反问。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训练入口：从推荐岗位进入模拟面试。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BE164-BBD4-4CA8-B664-2A704874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咨询用于认知与规划；只有进入面试并完成训练后，才生成评分报告。</a:t>
            </a:r>
          </a:p>
        </p:txBody>
      </p:sp>
    </p:spTree>
    <p:extLst>
      <p:ext uri="{BB962C8B-B14F-4D97-AF65-F5344CB8AC3E}">
        <p14:creationId xmlns:p14="http://schemas.microsoft.com/office/powerpoint/2010/main" val="13540041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2ac125d08486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0CBA-C1C1-40F9-A500-87D18CCD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62125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FAB04-82B2-4994-B426-FF1569E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新生端 · 练习系统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12E62-233C-4F46-B774-F069215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新生训练闭环：从学会回答到持续改进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B0DD9-2897-4A03-85D5-762729A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练习闭环｜每题反馈都能接回当前题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0534D-11FB-40EF-B1B7-3404573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FA389-0675-4406-B7BB-3D5B53B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  学习菜单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8448-7CF5-4A08-89FF-70ADF22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STAR法则 / 题意理解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自我介绍 / 面试沟通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5170-BC0C-43A1-9B7E-DB83A8F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C176-9ACB-4E7F-80DE-182D3FC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  岗位模拟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13BF5-2E85-4B29-988B-2201D91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智驾测试 / 三电系统测试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六题作答 / 语音或文字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CFD5-D17F-417F-83BB-058FE20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4E0D-57C5-480B-A8D2-BC2C8CB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  即时反馈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98282-405C-4D29-8FF2-B7722C9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本题练习分 / 未评分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问题分析 / 原话依据 / 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98B9B-91F5-46A2-B8A7-3042CA95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78416-32AD-4313-8B2A-F643B42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  补学继续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DA598-E668-4843-81F8-2096063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打开相关知识点学习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返回面试继续或查看报告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3D0D6-BE0C-4E85-A09F-90BD5E8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D782D-253E-4836-9CA8-22BCBFA1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BF2CF-4440-4943-883E-C1A2F91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EC36-BC7A-4344-BCE7-2C7E132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训练数据闭环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77CC-260B-4163-AB76-82C3D38F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E23AE-D8FD-4A99-A72B-561A82E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完成真实训练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1586E-3E5F-422F-8D92-10BE84B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D2B49-B824-4F3A-81A7-9132B2F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生成整场报告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8308F-5760-4854-941F-F9863E9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9E3F4-0620-403A-9053-3FE400D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同岗成长记录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5DC79-FD2A-4A5E-9100-D720E42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704F0-C6AB-481E-A16B-4B4A82A9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9604D-01AB-4E44-BFAD-3E429E2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947A1-B66B-4D7A-BC75-AFA2BB5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862B4-31A5-4273-9055-CD2CCBF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56AE65-8DC5-420C-82CE-828905A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候选记录可回到原会话与报告核对；岗位咨询本身不生成面试分数。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012D6-3DC8-4244-9A7E-1968FE6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</p:spTree>
    <p:extLst>
      <p:ext uri="{BB962C8B-B14F-4D97-AF65-F5344CB8AC3E}">
        <p14:creationId xmlns:p14="http://schemas.microsoft.com/office/powerpoint/2010/main" val="16704885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8668b3f65432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B997-B039-409E-8D7A-9BBDEA1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913D-532A-4E63-AE99-B38B065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E7AEF-367F-4F34-BA28-530BA51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岗位配置：将招聘要求整理为可维护的题库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FFF2-F81F-4B82-9C71-CA81D16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4E1B7-AC77-45F8-A2EC-0CB1056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EF84-2AAA-456D-B18D-F40F3CB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DE14F-F852-46E7-9563-3DEB23A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76F0-9AAB-40FB-919C-A64B8595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生成配置草案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A4B1-9B1F-4920-80E1-91E35C60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C0087-0DE5-43C0-BDC9-A67D9429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检查并维护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1BF66-9CB3-4763-AA76-E1F0158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C87A5-DAA9-43EF-B243-6F80C5F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用于岗位训练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487DF-A51B-4CF1-A54F-E2765CA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2FB76-0D89-415D-BBDB-8A0B43F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首期岗位：智驾测试 / 三电系统测试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09841-97C6-4FCA-8259-63FEB7E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岗位要求：能设计用例、记录并复现缺陷。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题目示例：“问题偶发时，你如何定位？”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考察重点：排查步骤、证据记录与风险意识。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企业可维护题目，并调整岗位评价重点。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F486B-6935-49FB-A62D-BB57B2F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B2BAD-3D39-4096-A7C4-D5B40C96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如何落到一场训练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5E3DA-4C99-4C29-975C-074C259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学生选择岗位后，系统读取该岗位题库。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问答围绕岗位任务展开，避免泛泛提问。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完成后生成报告，并纳入该岗位候选比较。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企业可回到原报告核对具体表现。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6F7A2-665A-4877-9B1B-112F5B5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可维护的是题库内容、岗位评估建议与初筛权重；题目不会只靠固定文案展示。</a:t>
            </a:r>
          </a:p>
        </p:txBody>
      </p:sp>
      <p:sp>
        <p:nvSpPr>
          <p:cNvPr id="29" name="Right Arrow 28">
            <a:extLst xmlns:a="http://schemas.openxmlformats.org/drawingml/2006/main">
              <a:ext uri="{FF2B5EF4-FFF2-40B4-BE49-F238E27FC236}">
                <a16:creationId xmlns:a16="http://schemas.microsoft.com/office/drawing/2014/main" id="{54B18FF1-2A9F-450C-AB27-979BCD4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36292"/>
            <a:ext cx="438912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FF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ight Arrow 29">
            <a:extLst xmlns:a="http://schemas.openxmlformats.org/drawingml/2006/main">
              <a:ext uri="{FF2B5EF4-FFF2-40B4-BE49-F238E27FC236}">
                <a16:creationId xmlns:a16="http://schemas.microsoft.com/office/drawing/2014/main" id="{802EC7B4-31DE-4BAD-8030-33B1AF3E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2336292"/>
            <a:ext cx="438912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FF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ight Arrow 30">
            <a:extLst xmlns:a="http://schemas.openxmlformats.org/drawingml/2006/main">
              <a:ext uri="{FF2B5EF4-FFF2-40B4-BE49-F238E27FC236}">
                <a16:creationId xmlns:a16="http://schemas.microsoft.com/office/drawing/2014/main" id="{F5013CF3-CC11-4066-9D68-BA0C779C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2336292"/>
            <a:ext cx="438912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FF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1421605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2a20b8df42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技术亮点：岗位知识进入六题面试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pic>
        <p:nvPicPr>
          <p:cNvPr id="1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907c037134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874519"/>
            <a:ext cx="10744200" cy="41605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81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92855fc1e4a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6BF19-7C62-42C2-8AE5-915C254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A129-627B-4A02-915F-6592CDF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35392-F1E0-45CA-9501-C87464D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学生面试：六题训练与新生逐题反馈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3128-E0EE-4696-BC7E-D1DFD79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20A3-2EA8-4F2C-B827-01FA162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9FFC-D1CF-42F5-9971-8616B3C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一轮训练的操作路径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EDA79-BD71-4ECA-8EEB-896CEFC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621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选择学生与岗位 → 完成设备自检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回答六道主问题：通用2题、专业3题、情景1题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语音或文字作答；一场会话固定使用一种输入方式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新生模式每答一题，查看练习分（或未评分）、问题分析、原话依据和改进建议；补学后继续面试。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81AF-5219-48AA-B593-B6A5E6C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38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服务端管理训练进度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4B7A1-3967-4CE6-B4F9-C4999AE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81275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服务端保存当前题目和已提交回答；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刷新页面后可以恢复训练，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不依赖浏览器临时状态。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2AEF6-4DE2-4CC0-A79E-BA18541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862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追问由服务端判断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362BB-5896-435A-9E98-949D720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38650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每题最多追问一次，结合本题、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岗位提示和回答决定是否追问；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判断失败时直接进入下一题。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96781-08A4-4D85-90EC-C648EC0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提交期间锁定按钮；结果不明时先确认状态，不自动重发，避免重复推进。</a:t>
            </a:r>
          </a:p>
        </p:txBody>
      </p:sp>
    </p:spTree>
    <p:extLst>
      <p:ext uri="{BB962C8B-B14F-4D97-AF65-F5344CB8AC3E}">
        <p14:creationId xmlns:p14="http://schemas.microsoft.com/office/powerpoint/2010/main" val="13468832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d34cbdc5148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23A5-E63F-4B90-A263-424A3C7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72C8-4A60-4873-9260-836A980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FC6B-E755-4562-BE96-7DF4607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语音链路：既理解回答，也分析表达方式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A4F62-2EDE-4BDC-B514-D508922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87982-89F8-498F-99F6-992FEFF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EFB6A-AFDD-4F14-A6E8-BB1B713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浏览器录音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AC673-512A-47F7-B46B-502DA75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8DC1F-0BC8-403C-8CF3-43C8B3C5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28ABD-C9EF-436D-BA5C-88B5208E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9D489-151C-4551-9DE0-CBC98E1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音频转码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CE87C-B91F-406E-9745-1374712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CF5A-D117-4075-BF3B-31B2F25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FA82-EF2E-4603-B22A-78179D4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C53C-40EC-4210-B1B4-9B08039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语音转文字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B23D5-39A3-481B-961E-A2B706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C940A-8FC4-4F2C-AF88-ADDE299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9E522-7BD7-49C1-9738-51FD0E4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77E6-EAB4-4ED2-9A82-FE1F67C9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FB8AF-2BE7-4699-BCB5-B3B5D2C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24B38-0632-4A6C-81E3-6ECC642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内容：回答了什么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4C7B4-221A-453A-9EBD-3ACAAB8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浏览器采集音频，后端转换为 16k 单声道。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ASR 将语音转成文字，供岗位内容评分。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系统引用回答中的原话，解释评分原因；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TTS 负责朗读问题，减少手动操作。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1BCB8-2459-48B1-9DEF-804CD1E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6EA69-AFD4-4E89-A16C-F5DECDD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表达：回答得怎么样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971FF-411F-4D2B-AF08-B7869FC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语速：用文字量与录音时长计算。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停顿：统计持续静音的次数。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口头禅：识别“嗯、那个、就是”等词。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这些量化信息进入表达流畅度的判断。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A0460-C975-4E53-AF71-AC70F08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文字模式没有真实录音特征，因此不为语音流畅度补造分数。</a:t>
            </a:r>
          </a:p>
        </p:txBody>
      </p:sp>
    </p:spTree>
    <p:extLst>
      <p:ext uri="{BB962C8B-B14F-4D97-AF65-F5344CB8AC3E}">
        <p14:creationId xmlns:p14="http://schemas.microsoft.com/office/powerpoint/2010/main" val="6774710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7e9a1507347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技术亮点：语速、停顿与填充词可量化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pic>
        <p:nvPicPr>
          <p:cNvPr id="1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a53dd052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874519"/>
            <a:ext cx="10744200" cy="41605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2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10cfe9c13407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评分报告：四项能力有解释，原话依据可核对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D17F-661C-41A1-89FB-788BE7AB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6743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F62C4-D2CF-4BEE-824B-186EACA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示例：回答原话怎样支撑评分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811A6-1B7D-49DB-9BC3-66095CD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6286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说明示例（非真实用户数据）：“我负责整理雨天和逆光片段，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写 Python 脚本统计漏检帧。”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这句话交代了任务、个人职责和所用方法，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可作为理解评分依据。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若想表达更完整，还要补充发现的问题、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处理结果和自己的复盘。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75D17-0129-494A-A538-ECCD6F85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四项评分维度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B432-72E4-40B5-B4F1-0D3DB76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专业匹配：方法对岗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逻辑结构：过程说清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表达：声学统计；素养：安全责任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8E0C-6926-4AAA-8C15-D649B5A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957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反馈和报告各有作用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7322C-AF06-44B3-B7BD-43B8AC3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57700"/>
            <a:ext cx="34766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逐题反馈指出问题和改法；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整场报告汇总四项结果；缺失项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显示“未评估”，文本模式不评语音流畅度。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81A93-36D2-4B2F-96C6-398CB22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示例回答仅作说明，不代表实测数据；单次模型评分不等同于就业结论。</a:t>
            </a:r>
          </a:p>
        </p:txBody>
      </p:sp>
    </p:spTree>
    <p:extLst>
      <p:ext uri="{BB962C8B-B14F-4D97-AF65-F5344CB8AC3E}">
        <p14:creationId xmlns:p14="http://schemas.microsoft.com/office/powerpoint/2010/main" val="21089285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1b25a32bb4e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技术亮点：评分依据可回到学生原话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pic>
        <p:nvPicPr>
          <p:cNvPr id="1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7aaa4920d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874519"/>
            <a:ext cx="10744200" cy="41605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896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a0d1789dc45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1CC5-65EC-4C0C-A9C1-6C1C0C1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9B01C-2B5F-48D4-860A-2DC7916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7F5C4-5004-4E54-895D-3C8E9D4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成长追踪：按同一学生、同一岗位回看训练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1E986-FE7B-4714-B7AB-F542A0E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4B1BA-7D5F-4DBA-BB7F-B7754BD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记录可回看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708F-197D-40E3-B946-BA3914C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保存完成时间、岗位和报告入口。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学生能打开历史报告，查看当时的原话依据与改进建议。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2EB0-1BB7-4F76-BC18-3016D9D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36C03-2C32-4102-A939-2481C62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480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变化有前提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A6A8-E5D6-478E-A440-0F60A2B8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同一学生、同一岗位才放在一起；文字与语音、不同评分口径不混比。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只比较两次都有效的项目，缺失数据不补零、不跨缺失点连线。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DB2AA-72D1-4854-AC39-B0C362F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7390-F990-4D06-BD8B-784D3F8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反馈可继续用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FD431-AF7A-476E-8338-B34EE54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最近两次完成训练先核对输入方式、评分版本和有效维度集合。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条件一致才显示综合分变化；否则说明“不可直接比较”。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4C563-640B-414D-B28F-B3F987E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EEEE2-19B0-45A6-99D1-01D43D3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“本次比上次变化”描述观测结果，不直接宣称真实能力提高。</a:t>
            </a:r>
          </a:p>
        </p:txBody>
      </p:sp>
    </p:spTree>
    <p:extLst>
      <p:ext uri="{BB962C8B-B14F-4D97-AF65-F5344CB8AC3E}">
        <p14:creationId xmlns:p14="http://schemas.microsoft.com/office/powerpoint/2010/main" val="12775639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e72360e8944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D622-A2D2-45C3-8A9C-72B2360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EDB0-4F08-4D5A-8172-92B9F2B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70D2F-AE0F-4481-8DE4-54D928C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企业初筛：按岗位比较候选表现并核对原报告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7409-E2FA-495E-9982-120B2E5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FEB9-F11E-428F-A5FD-86F1A437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66198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EE705-0932-48E8-B856-A527CBD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6162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从岗位要求到候选名单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B4902-C4D4-4325-931A-11EB9B3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6162675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企业按岗位、输入方式和评分版本选择候选组。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每位学生取最近一份至少三维有效的报告。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按配置权重汇总评分、学历与学校档次。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点击候选人回到原报告，由企业人工复核。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62D5-5527-4145-882F-207BBB3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669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名单从训练数据产生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8222E-83DA-4E93-B1FF-BB77B552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19375"/>
            <a:ext cx="3571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学生完成训练后，报告成为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候选记录来源；同人同岗再次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训练后更新，避免重复入列。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D042-DF7E-47DC-9CE3-15FBE5B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147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排序有明确边界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07FE2-208D-43C8-8ECC-2E076C5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571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文字与语音、不同评分版本分组；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缺失项不补零，有效权重重算；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初筛排序不代替人工判断。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762D5-8032-4D82-8681-30B122D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企业看到的分数能够追溯到具体会话和报告，不是单独维护的演示排行榜。</a:t>
            </a:r>
          </a:p>
        </p:txBody>
      </p:sp>
    </p:spTree>
    <p:extLst>
      <p:ext uri="{BB962C8B-B14F-4D97-AF65-F5344CB8AC3E}">
        <p14:creationId xmlns:p14="http://schemas.microsoft.com/office/powerpoint/2010/main" val="1714607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fca3c1ece4e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536F5-79DD-42C6-ABBB-D66DE97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F4A53-64D5-4F59-B562-B1AE790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388BC-A8D1-4201-B5B8-E80D034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项目闭环：候选记录可以回到真实训练报告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7369-E32E-422D-87BF-D60C68C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6A7C5-183E-47E0-928B-D8617CE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CC3A3-E76F-4F36-96C8-6D9CD49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3A915-25A8-452C-80CB-CE0990A3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2A010-31C5-405A-A774-8FC770A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42646-99AE-4089-B7B4-A7E6748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962DE-EB50-40EF-937A-E6470449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真实会话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3E217-B752-477F-9531-DBE9F90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2076E-7AD3-4DBE-9261-64D3571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F42B6-F52C-45DF-AF8C-BE0828E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BB064-933F-4C53-9642-2113FAB9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D4B2F-9607-4C88-A604-4A1AAB5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F9EC5-2813-4A23-B3D9-F5AE7FF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21DF3-961D-436E-B514-4F9DAD1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08AEA-9E93-4522-8253-7390486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624D-744A-40CF-8B40-7CBF0DC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643B1-D7F5-4A97-AFE8-F6903BF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学生侧：按同一岗位回看训练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44E72-509B-4BB1-98DF-F0A4C73F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同一学生同岗训练，可按时间回看报告。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改进建议沿用原报告内容。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新生咨询只给岗位路径，不出面试分数。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成长记录按学生和岗位隔离。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A60E6-F5BD-4641-BE62-309CD8A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F342B-6AE7-4303-A581-AA31F43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企业侧：候选结果有来源可核对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B1738-EEC1-4C10-BDB0-6797632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候选数据来自完成并有报告的训练。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每名学生同岗保留最近一份合格报告。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可打开报告核对回答原文、评分和建议。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同人再训练更新记录，不重复建档。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B6623-6543-4D1C-80D6-8455793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学生成长与企业初筛共用已完成训练记录；不使用独立静态排行榜。</a:t>
            </a:r>
          </a:p>
        </p:txBody>
      </p:sp>
    </p:spTree>
    <p:extLst>
      <p:ext uri="{BB962C8B-B14F-4D97-AF65-F5344CB8AC3E}">
        <p14:creationId xmlns:p14="http://schemas.microsoft.com/office/powerpoint/2010/main" val="14408655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1f22c7ffe4b1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F7F7-0CF2-4A66-8F7F-FC372E5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B0514-2608-4F7F-97CC-6F9AA0B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82625-C0BC-47D8-943F-7F83980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系统架构：页面、业务、模型与数据如何衔接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54FD0-CF04-47C6-B890-672273F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1B2C-D2F2-4D5B-B531-64DE49A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1722-03D6-49FE-B1A5-C3ED443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36EAA-EC7F-4B3A-A3EF-7A0A8B6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28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Next.js · TypeScript · ECharts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2E227-9060-463A-BB3C-1CA50BD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岗位选择、语音问答、评分报告、成长曲线与企业看板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09A0-265E-41DA-BFD0-7720FA39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ED47-0CB7-421E-8080-9C1F2FE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467CB-811B-4518-9D5A-FC07549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81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FastAPI · SQLAlchemy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059FB-2EB4-480C-9D00-6BA182C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服务端推进面试状态，处理咨询、题库、评分与候选查询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8D154-16C4-431B-BE6E-6B4BA92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B847-F1F1-4A43-907B-8AF74C5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智能层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011D9-1B3C-45AE-91D1-F89FFA2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33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LLM · ASR · 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886E6-C8CD-45DD-96F6-65F6127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岗位解析与追问、回答理解与评分、语音识别与问题朗读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843C9-17DB-4A1D-B118-565820E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F52F-C830-468C-9C1F-D8AC3191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2BE8E-4362-4E98-816F-01D82BD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SQLite · 学生、岗位与训练记录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E1CA8-FD26-4A4C-A048-FDF40A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关联岗位、题目、会话、回答和报告，支持成长回看与候选查询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CF120-E3A6-4554-9529-91E4C1E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调用路径：前端 → FastAPI → 模型/语音服务 → SQLite；报告按 session_id 追溯。</a:t>
            </a:r>
          </a:p>
        </p:txBody>
      </p:sp>
    </p:spTree>
    <p:extLst>
      <p:ext uri="{BB962C8B-B14F-4D97-AF65-F5344CB8AC3E}">
        <p14:creationId xmlns:p14="http://schemas.microsoft.com/office/powerpoint/2010/main" val="890633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de8d0515441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0C1B6-D08A-41F3-BFC1-7171FA7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6385-18FB-4897-A9B8-FCF0793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7AB8A-1A65-4AFC-8185-72B3120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运行保障：调用失败有备用路径，结果可以核查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7BE0-CB4B-489C-AF3C-6DA9426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8602-CA18-4A5A-A222-F53BF03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D4D6-4FF6-4D6D-AFFB-A425E42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旗舰模型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EDEA6-21A9-4994-8B83-DFAF572D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编排、追问、评分、解析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F10BB-7205-4455-AA75-7DEB882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2169A-4270-4AC4-9840-9B3800E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F046-BBB1-411C-99E3-4D8A9E0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Flash 云模型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A84A1-A1DD-4BEB-B1DC-6B07D46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主模型失败后尝试回退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8180-00F2-4490-BE9F-DFB5F67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DFCBF-E9FD-4FA8-BDE5-50E3DCFA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8887-4E84-4563-9041-CFEF0E8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本地模型（需启用）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C5659-04CC-460F-AF29-7809BF7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云端失败时尝试本地模型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7AEAB-62AA-4A61-B916-868EDC3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59360-62E9-4B9F-B322-32BB9F7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控制等待与失败影响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97ECC-EF32-483A-A581-BFC736C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每阶段设总时限，为后续模型保留回退时间。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返回内容先做格式校验，结构错误时重试。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追问判断失败则进入下一题，不阻断训练。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模型名、服务地址和密钥由 .env 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75B5F-483E-4F81-B87E-44CF40C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6D0C1-6931-413E-9A99-0ECA44E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控制评分的可解释性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3FD3-3B65-4D8C-A37C-948AA3F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两次独立评估；引用须来自回答原文。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缺失维度保留“未评估”，不编造依据。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记录阶段、模型和时延，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 token 统计成本，便于排查。</a:t>
            </a:r>
          </a:p>
        </p:txBody>
      </p:sp>
    </p:spTree>
    <p:extLst>
      <p:ext uri="{BB962C8B-B14F-4D97-AF65-F5344CB8AC3E}">
        <p14:creationId xmlns:p14="http://schemas.microsoft.com/office/powerpoint/2010/main" val="1886774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dab0c50fd4e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231E-258A-46D9-9C4C-0D754C4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C926-9ADD-485A-8020-CEFB357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E959E-FDAF-4E56-A7E5-3A0FB35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应用价值：把岗位训练、复盘和初筛连起来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D715-C7B6-4A67-8130-D297D5A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FD48D-8045-4218-A2CF-CBC6C8B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3DCA3-576A-42DA-A9D1-9AA9F11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课堂与就业训练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9DC4-250F-40CF-B9F8-721DB596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职业认知课：用岗位地图理解工作任务。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面试训练课：组织学生按岗位完成模拟问答。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课后复盘：对照原话与建议重写回答。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持续训练：同人同岗回看历史记录与变化。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911C-271D-45D9-9F67-7D036DD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79037-D08A-478D-A886-3C65591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企业初筛与实施方式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C219-9B0A-4FA1-99FA-F735FD3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通过同源报告了解候选人的训练表现。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使用本机或局域网部署组织集中体验。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推广到新岗位时，需要维护题库和领域知识。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B542F-06A1-4378-AD29-D3075F2C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由实际功能支撑的三个特点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7A9D8-E7D5-4E23-BC2D-95E0569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智驾与三电种子岗位题库  ·  语音训练统计语速/停顿/填充词  ·  评分引用回答原话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C1B3C-AB17-4167-B85D-016CABF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价值来自训练与筛选流程的衔接；效果仍需结合实际使用持续衡量。</a:t>
            </a:r>
          </a:p>
        </p:txBody>
      </p:sp>
    </p:spTree>
    <p:extLst>
      <p:ext uri="{BB962C8B-B14F-4D97-AF65-F5344CB8AC3E}">
        <p14:creationId xmlns:p14="http://schemas.microsoft.com/office/powerpoint/2010/main" val="3653907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eff21e092491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9A994-823B-4FEC-B02A-95B1D3F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7F1FF-C84A-48B2-A74F-F6DD5D7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项目总结 · 芝麻队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7A520-22CE-42EE-B007-B12D3BD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让学生知道如何改进，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D124C-6BD5-4F1A-9E6E-0C3A1E4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让企业看见判断依据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5D4DB-8839-4831-AC92-FA88BDB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岗位认知与学习规划 → 模拟面试与反馈 → 成长追踪与企业初筛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B11FE-A39F-4B37-A082-C93AC1F5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0429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题库围绕岗位维护，训练过程留有记录，评分结果能够追溯。</a:t>
            </a:r>
          </a:p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用一条贯通的数据链，形成可落地的 AI 面试仓解决方案。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B8DE-58AA-4B9B-A711-D3201E5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</p:spTree>
    <p:extLst>
      <p:ext uri="{BB962C8B-B14F-4D97-AF65-F5344CB8AC3E}">
        <p14:creationId xmlns:p14="http://schemas.microsoft.com/office/powerpoint/2010/main" val="1661322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2026-09-29T13:54:41.0990000Z</dcterms:created>
  <dcterms:modified xsi:type="dcterms:W3CDTF">2026-09-29T13:54:41.0990000Z</dcterms:modified>
</coreProperties>
</file>