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298b604232e34773" Type="http://schemas.openxmlformats.org/package/2006/relationships/metadata/core-properties" Target="docProps/core.xml"/><Relationship Id="Rc9f4d4eaf0a34dee" Type="http://schemas.openxmlformats.org/officeDocument/2006/relationships/officeDocument" Target="ppt/presentation.xml"/><Relationship Id="Rd6819ba2b76a48d7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5fe7447a81944f7"/>
  </p:sldMasterIdLst>
  <p:notesMasterIdLst>
    <p:notesMasterId xmlns:r="http://schemas.openxmlformats.org/officeDocument/2006/relationships" r:id="R19d71a6885304da9"/>
  </p:notesMasterIdLst>
  <p:sldIdLst>
    <p:sldId xmlns:r="http://schemas.openxmlformats.org/officeDocument/2006/relationships" id="256" r:id="Raef4f863677b42d8"/>
    <p:sldId xmlns:r="http://schemas.openxmlformats.org/officeDocument/2006/relationships" id="257" r:id="Re358414a4aec4bf6"/>
    <p:sldId xmlns:r="http://schemas.openxmlformats.org/officeDocument/2006/relationships" id="258" r:id="Ra04c5015b7f54ef8"/>
    <p:sldId xmlns:ns0="http://schemas.openxmlformats.org/officeDocument/2006/relationships" id="273" ns0:id="rId23"/>
    <p:sldId xmlns:r="http://schemas.openxmlformats.org/officeDocument/2006/relationships" id="259" r:id="R54570fa6bfc94e2f"/>
    <p:sldId xmlns:r="http://schemas.openxmlformats.org/officeDocument/2006/relationships" id="260" r:id="R19725180989b43cc"/>
    <p:sldId xmlns:r="http://schemas.openxmlformats.org/officeDocument/2006/relationships" id="261" r:id="Rc40afaee4e3b4b51"/>
    <p:sldId xmlns:r="http://schemas.openxmlformats.org/officeDocument/2006/relationships" id="262" r:id="R0a4e7633c9b249e6"/>
    <p:sldId xmlns:r="http://schemas.openxmlformats.org/officeDocument/2006/relationships" id="263" r:id="Rfff85c40c58d4037"/>
    <p:sldId xmlns:r="http://schemas.openxmlformats.org/officeDocument/2006/relationships" id="264" r:id="R87468bd4eabc40fd"/>
    <p:sldId xmlns:r="http://schemas.openxmlformats.org/officeDocument/2006/relationships" id="265" r:id="Ree3de9a67cf64b59"/>
    <p:sldId xmlns:r="http://schemas.openxmlformats.org/officeDocument/2006/relationships" id="266" r:id="Rcf22d1c367794a62"/>
    <p:sldId xmlns:r="http://schemas.openxmlformats.org/officeDocument/2006/relationships" id="267" r:id="R4846316903f74c35"/>
    <p:sldId xmlns:r="http://schemas.openxmlformats.org/officeDocument/2006/relationships" id="268" r:id="Re2f3dab5f5f4468f"/>
    <p:sldId xmlns:r="http://schemas.openxmlformats.org/officeDocument/2006/relationships" id="269" r:id="Rfe1b4c5452b1460d"/>
    <p:sldId xmlns:r="http://schemas.openxmlformats.org/officeDocument/2006/relationships" id="270" r:id="R504da5fd37e841e0"/>
    <p:sldId xmlns:r="http://schemas.openxmlformats.org/officeDocument/2006/relationships" id="271" r:id="R0688d1cee0364f61"/>
    <p:sldId xmlns:r="http://schemas.openxmlformats.org/officeDocument/2006/relationships" id="272" r:id="R4a275d999c3d4a9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688d1cee0364f61" Type="http://schemas.openxmlformats.org/officeDocument/2006/relationships/slide" Target="slides/slide16.xml"/><Relationship Id="R0a4e7633c9b249e6" Type="http://schemas.openxmlformats.org/officeDocument/2006/relationships/slide" Target="slides/slide7.xml"/><Relationship Id="R19725180989b43cc" Type="http://schemas.openxmlformats.org/officeDocument/2006/relationships/slide" Target="slides/slide5.xml"/><Relationship Id="R19d71a6885304da9" Type="http://schemas.openxmlformats.org/officeDocument/2006/relationships/notesMaster" Target="notesMasters/notesMaster1.xml"/><Relationship Id="R20b105d096e04073" Type="http://schemas.openxmlformats.org/officeDocument/2006/relationships/theme" Target="theme/theme1.xml"/><Relationship Id="R4846316903f74c35" Type="http://schemas.openxmlformats.org/officeDocument/2006/relationships/slide" Target="slides/slide12.xml"/><Relationship Id="R4a275d999c3d4a90" Type="http://schemas.openxmlformats.org/officeDocument/2006/relationships/slide" Target="slides/slide17.xml"/><Relationship Id="R504da5fd37e841e0" Type="http://schemas.openxmlformats.org/officeDocument/2006/relationships/slide" Target="slides/slide15.xml"/><Relationship Id="R54570fa6bfc94e2f" Type="http://schemas.openxmlformats.org/officeDocument/2006/relationships/slide" Target="slides/slide4.xml"/><Relationship Id="R78284960a74e4a58" Type="http://schemas.openxmlformats.org/officeDocument/2006/relationships/presProps" Target="presProps.xml"/><Relationship Id="R87468bd4eabc40fd" Type="http://schemas.openxmlformats.org/officeDocument/2006/relationships/slide" Target="slides/slide9.xml"/><Relationship Id="R95fe7447a81944f7" Type="http://schemas.openxmlformats.org/officeDocument/2006/relationships/slideMaster" Target="slideMasters/slideMaster1.xml"/><Relationship Id="Ra04c5015b7f54ef8" Type="http://schemas.openxmlformats.org/officeDocument/2006/relationships/slide" Target="slides/slide3.xml"/><Relationship Id="Raef4f863677b42d8" Type="http://schemas.openxmlformats.org/officeDocument/2006/relationships/slide" Target="slides/slide1.xml"/><Relationship Id="Rc40afaee4e3b4b51" Type="http://schemas.openxmlformats.org/officeDocument/2006/relationships/slide" Target="slides/slide6.xml"/><Relationship Id="Rcf22d1c367794a62" Type="http://schemas.openxmlformats.org/officeDocument/2006/relationships/slide" Target="slides/slide11.xml"/><Relationship Id="Re2f3dab5f5f4468f" Type="http://schemas.openxmlformats.org/officeDocument/2006/relationships/slide" Target="slides/slide13.xml"/><Relationship Id="Re358414a4aec4bf6" Type="http://schemas.openxmlformats.org/officeDocument/2006/relationships/slide" Target="slides/slide2.xml"/><Relationship Id="Red00ed9bb3924de5" Type="http://schemas.openxmlformats.org/officeDocument/2006/relationships/tableStyles" Target="tableStyles.xml"/><Relationship Id="Ree3de9a67cf64b59" Type="http://schemas.openxmlformats.org/officeDocument/2006/relationships/slide" Target="slides/slide10.xml"/><Relationship Id="Rfe1b4c5452b1460d" Type="http://schemas.openxmlformats.org/officeDocument/2006/relationships/slide" Target="slides/slide14.xml"/><Relationship Id="Rfff85c40c58d4037" Type="http://schemas.openxmlformats.org/officeDocument/2006/relationships/slide" Target="slides/slide8.xml"/><Relationship Id="rId23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ee34716b4ee94625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21ca4dd95b8549f2" Type="http://schemas.openxmlformats.org/officeDocument/2006/relationships/notesMaster" Target="../notesMasters/notesMaster1.xml"/><Relationship Id="Rd43161be7a704cea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fabd0e6001f54c02" Type="http://schemas.openxmlformats.org/officeDocument/2006/relationships/notesMaster" Target="../notesMasters/notesMaster1.xml"/><Relationship Id="Rfddcb72259864021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7a1c7768072243a9" Type="http://schemas.openxmlformats.org/officeDocument/2006/relationships/notesMaster" Target="../notesMasters/notesMaster1.xml"/><Relationship Id="Rfcb34fe143104500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e6ea0164e4ea419d" Type="http://schemas.openxmlformats.org/officeDocument/2006/relationships/slide" Target="../slides/slide4.xml"/><Relationship Id="Red934fa0c70c47f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4e6f0f7527bb4901" Type="http://schemas.openxmlformats.org/officeDocument/2006/relationships/slide" Target="../slides/slide5.xml"/><Relationship Id="Ra7a59834f92c4e26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477e5f91c51e4c6c" Type="http://schemas.openxmlformats.org/officeDocument/2006/relationships/slide" Target="../slides/slide6.xml"/><Relationship Id="Rb2521472d0834c83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df4b77436aa14d76" Type="http://schemas.openxmlformats.org/officeDocument/2006/relationships/notesMaster" Target="../notesMasters/notesMaster1.xml"/><Relationship Id="Reed7305b7fd64916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493a144d88ec47d4" Type="http://schemas.openxmlformats.org/officeDocument/2006/relationships/slide" Target="../slides/slide8.xml"/><Relationship Id="Rcdb0fa1de410412d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14b6d293febb4274" Type="http://schemas.openxmlformats.org/officeDocument/2006/relationships/notesMaster" Target="../notesMasters/notesMaster1.xml"/><Relationship Id="R1c5173f1d771436d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1be985c9f9044230" Type="http://schemas.openxmlformats.org/officeDocument/2006/relationships/notesMaster" Target="../notesMasters/notesMaster1.xml"/><Relationship Id="R5f7ed9e3df814fda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432504c566f3484f" Type="http://schemas.openxmlformats.org/officeDocument/2006/relationships/notesMaster" Target="../notesMasters/notesMaster1.xml"/><Relationship Id="R4c080f95a7124d95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3324bd19bc744489" Type="http://schemas.openxmlformats.org/officeDocument/2006/relationships/notesMaster" Target="../notesMasters/notesMaster1.xml"/><Relationship Id="Reb64d6074abd4aab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4c4e099df8a7482f" Type="http://schemas.openxmlformats.org/officeDocument/2006/relationships/notesMaster" Target="../notesMasters/notesMaster1.xml"/><Relationship Id="Rdacbd2f523734399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6c31456649d4438b" Type="http://schemas.openxmlformats.org/officeDocument/2006/relationships/notesMaster" Target="../notesMasters/notesMaster1.xml"/><Relationship Id="Ra53d5af63fff4c2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3af1982cfe5c4cdb" Type="http://schemas.openxmlformats.org/officeDocument/2006/relationships/slide" Target="../slides/slide15.xml"/><Relationship Id="R5a989ee42d5a49a8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59b3fbba0f544336" Type="http://schemas.openxmlformats.org/officeDocument/2006/relationships/slide" Target="../slides/slide16.xml"/><Relationship Id="Rd0eaef03c52741eb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140e530e60fb46f7" Type="http://schemas.openxmlformats.org/officeDocument/2006/relationships/slide" Target="../slides/slide17.xml"/><Relationship Id="Reead96d3a1204b73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命题05原文面向一般职教学生与企业。产品定位按用户要求采用通用岗位表述；当前种子岗位及部分提示词为智驾、三电。未声称已完成跨行业验证。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命题05 PDF 第1–2页背景、核心问题与预期成果。下列成效是目标与产品作用，不是统计效果。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 server/api/jobs.py、sessions.py、reports.py、growth.py、recruiter.py 与 counsel.py。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server/services/counsel.py 与 data 中咨询静态资源；咨询输出岗位地图、差距、年级学习路径及训练入口。示例为使用情境，不是用户实测。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server/services/jd_parse.py；server/api/jobs.py:229–384。JD解析先返回草案，题库可增删改；JD评估建议与候选排序权重区别于固定正式评分字段。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web/app/page.tsx；server/api/sessions.py；server/services/orchestrator.py。真实界面截图若显示岗位样例，不代表行业范围限制。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web/lib/recorder.ts；server/services/audio.py、asr.py、tts.py、scoring.py。声学特征取采集时长、停顿计数与填充词，不使用ASR词级时间戳。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server/services/scoring.py；回答例句引用 docs/test-answers/05-course-project.md 虚构样本05；解释与建议是说明示例，非实测评分输出。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server/services/growth.py；docs/growth-tracking-spec.md。比较要求输入模式、评分口径、有效维度可比。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server/services/recruiter.py；server/api/recruiter.py。候选数据联查 Session、Report、User；缺维资格、权重重归一化及口径隔离。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命题05 PDF 项目端预期成果；server/models.py 的users/jobs/questions/sessions/answers/reports关系；企业与成长服务。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web/package.json；requirements.txt；server/main.py；server/services/llm.py；server/models.py。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server/services/llm.py timeout与budget；orchestrator.py失败进入下一题；scoring.py双评及原文证据校验；模型名称URL通过配置。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命题05预期成果与AGENTS部署范围。使用价值为产品机制与预期作用，未声称已有成本/就业率改善实测。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命题05学生端、企业端、项目端目标总结。不含下一步行动，不以未获得的实测数值宣称成效。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4cc2d5b8a0844092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7ab5eba209824812" Type="http://schemas.openxmlformats.org/officeDocument/2006/relationships/slideLayout" Target="../slideLayouts/slideLayout1.xml"/><Relationship Id="Ra4e456116fbd4afd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ab5eba20982481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030c2a6eb79d459d" Type="http://schemas.openxmlformats.org/officeDocument/2006/relationships/slideLayout" Target="../slideLayouts/slideLayout1.xml"/><Relationship Id="R7544295020084ce5" Type="http://schemas.openxmlformats.org/officeDocument/2006/relationships/notesSlide" Target="../notesSlides/notesSlide1.xml"/><Relationship Id="R9b9befb2ba754f68" Type="http://schemas.openxmlformats.org/officeDocument/2006/relationships/image" Target="../media/image.jpeg"/></Relationships>
</file>

<file path=ppt/slides/_rels/slide2.xml.rels><?xml version='1.0' encoding='UTF-8' standalone='yes'?>
<Relationships xmlns="http://schemas.openxmlformats.org/package/2006/relationships"><Relationship Id="R71e859a8fdb84ebd" Type="http://schemas.openxmlformats.org/officeDocument/2006/relationships/image" Target="../media/image2.jpeg"/><Relationship Id="Rbccebab4588040a4" Type="http://schemas.openxmlformats.org/officeDocument/2006/relationships/notesSlide" Target="../notesSlides/notesSlide2.xml"/><Relationship Id="Rd374e1e72dfd4955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3700d36be1924b1e" Type="http://schemas.openxmlformats.org/officeDocument/2006/relationships/slideLayout" Target="../slideLayouts/slideLayout1.xml"/><Relationship Id="Rbfe7296685f647d5" Type="http://schemas.openxmlformats.org/officeDocument/2006/relationships/notesSlide" Target="../notesSlides/notesSlide3.xml"/><Relationship Id="Reaafb37d634c4f20" Type="http://schemas.openxmlformats.org/officeDocument/2006/relationships/image" Target="../media/image3.jpeg"/></Relationships>
</file>

<file path=ppt/slides/_rels/slide4.xml.rels><?xml version='1.0' encoding='UTF-8' standalone='yes'?>
<Relationships xmlns="http://schemas.openxmlformats.org/package/2006/relationships"><Relationship Id="R1a5dbcd213ac4d67" Type="http://schemas.openxmlformats.org/officeDocument/2006/relationships/image" Target="../media/image4.jpeg"/><Relationship Id="R49c341e9e17c45e1" Type="http://schemas.openxmlformats.org/officeDocument/2006/relationships/notesSlide" Target="../notesSlides/notesSlide4.xml"/><Relationship Id="Ra0c1b34aafa94ef7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61bd196500924332" Type="http://schemas.openxmlformats.org/officeDocument/2006/relationships/image" Target="../media/image5.jpeg"/><Relationship Id="R650e8f712d5b4b2a" Type="http://schemas.openxmlformats.org/officeDocument/2006/relationships/slideLayout" Target="../slideLayouts/slideLayout1.xml"/><Relationship Id="R76ae2937584645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02310451cc7f4b15" Type="http://schemas.openxmlformats.org/officeDocument/2006/relationships/slideLayout" Target="../slideLayouts/slideLayout1.xml"/><Relationship Id="Ra739ce19838f41a1" Type="http://schemas.openxmlformats.org/officeDocument/2006/relationships/image" Target="../media/image6.jpeg"/><Relationship Id="Re5b4bfedc7ae4c7c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4194ca85503845b1" Type="http://schemas.openxmlformats.org/officeDocument/2006/relationships/image" Target="../media/image7.jpeg"/><Relationship Id="Rae8a4c21c67742e5" Type="http://schemas.openxmlformats.org/officeDocument/2006/relationships/notesSlide" Target="../notesSlides/notesSlide7.xml"/><Relationship Id="Rc5b70e2cc7ca448d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12fc8a3b16144d06" Type="http://schemas.openxmlformats.org/officeDocument/2006/relationships/slideLayout" Target="../slideLayouts/slideLayout1.xml"/><Relationship Id="R62a7f59bc1bc4cb0" Type="http://schemas.openxmlformats.org/officeDocument/2006/relationships/image" Target="../media/image8.jpeg"/><Relationship Id="R7336d198d9d74177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060ec751d86c49cf" Type="http://schemas.openxmlformats.org/officeDocument/2006/relationships/slideLayout" Target="../slideLayouts/slideLayout1.xml"/><Relationship Id="R5b37d7a6d5144c5a" Type="http://schemas.openxmlformats.org/officeDocument/2006/relationships/image" Target="../media/image9.jpeg"/><Relationship Id="R984ae2d27757457b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1821a90e427844f4" Type="http://schemas.openxmlformats.org/officeDocument/2006/relationships/notesSlide" Target="../notesSlides/notesSlide10.xml"/><Relationship Id="R58aae585e454450d" Type="http://schemas.openxmlformats.org/officeDocument/2006/relationships/slideLayout" Target="../slideLayouts/slideLayout1.xml"/><Relationship Id="Re0d12e8ecefd45f2" Type="http://schemas.openxmlformats.org/officeDocument/2006/relationships/image" Target="../media/image10.jpeg"/></Relationships>
</file>

<file path=ppt/slides/_rels/slide11.xml.rels><?xml version='1.0' encoding='UTF-8' standalone='yes'?>
<Relationships xmlns="http://schemas.openxmlformats.org/package/2006/relationships"><Relationship Id="R32c05c4f4dc240ee" Type="http://schemas.openxmlformats.org/officeDocument/2006/relationships/image" Target="../media/image11.jpeg"/><Relationship Id="R42f2ac53e834467d" Type="http://schemas.openxmlformats.org/officeDocument/2006/relationships/slideLayout" Target="../slideLayouts/slideLayout1.xml"/><Relationship Id="Rc6487ca2511e4cec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6098b54199fd4cd3" Type="http://schemas.openxmlformats.org/officeDocument/2006/relationships/slideLayout" Target="../slideLayouts/slideLayout1.xml"/><Relationship Id="R6d358db76c574de3" Type="http://schemas.openxmlformats.org/officeDocument/2006/relationships/image" Target="../media/image12.jpeg"/><Relationship Id="R909a5a46aeb24f8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ad7dae9bcdd24a1d" Type="http://schemas.openxmlformats.org/officeDocument/2006/relationships/image" Target="../media/image13.jpeg"/><Relationship Id="Rc0aa146dcd704aa6" Type="http://schemas.openxmlformats.org/officeDocument/2006/relationships/notesSlide" Target="../notesSlides/notesSlide13.xml"/><Relationship Id="Rec1dc7c9e18c47cd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166e6192b33e4c47" Type="http://schemas.openxmlformats.org/officeDocument/2006/relationships/image" Target="../media/image14.jpeg"/><Relationship Id="R9646a987d1ef41e1" Type="http://schemas.openxmlformats.org/officeDocument/2006/relationships/notesSlide" Target="../notesSlides/notesSlide14.xml"/><Relationship Id="Rb57f63eba8364038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06dbc7ca6b0e43d4" Type="http://schemas.openxmlformats.org/officeDocument/2006/relationships/image" Target="../media/image15.jpeg"/><Relationship Id="R6f98d38e66994990" Type="http://schemas.openxmlformats.org/officeDocument/2006/relationships/notesSlide" Target="../notesSlides/notesSlide15.xml"/><Relationship Id="R99faa0f15bfc4730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0a1f4142f44d4e15" Type="http://schemas.openxmlformats.org/officeDocument/2006/relationships/image" Target="../media/image16.jpeg"/><Relationship Id="R0b102c26d32d4813" Type="http://schemas.openxmlformats.org/officeDocument/2006/relationships/slideLayout" Target="../slideLayouts/slideLayout1.xml"/><Relationship Id="Rd296e348ca8c42c1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9547e2be2ada47c5" Type="http://schemas.openxmlformats.org/officeDocument/2006/relationships/notesSlide" Target="../notesSlides/notesSlide17.xml"/><Relationship Id="Rce7055d832b94596" Type="http://schemas.openxmlformats.org/officeDocument/2006/relationships/image" Target="../media/image17.jpeg"/><Relationship Id="Rfe64304e880b492b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eg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9befb2ba754f6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175B03-E9E3-49B3-8D81-0D6605327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800100"/>
            <a:ext cx="275272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0EB782-AE14-41B8-BCAB-A649436F9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47725"/>
            <a:ext cx="2466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 · 智能面试仓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280479-A1A2-46A7-A94D-08B29DA4F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981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51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智驾未来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29CA35-820B-4FE5-9054-C7344003B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67025"/>
            <a:ext cx="990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54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AI面试仓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E26447-05C2-429D-A465-00C2B908F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29100"/>
            <a:ext cx="10001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面向岗位需求的面试训练与人才初筛平台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B8B619-2472-44C7-9623-2BF4119B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96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职业认知 · 模拟面试 · 评分反馈 · 成长追踪 · 企业初筛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1D2B3D-F4AC-4AE2-B305-A58B5488C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24550"/>
            <a:ext cx="695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项目验收汇报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BDFE5D-F8DF-4F8B-9EAF-BA64B78A9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3877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小队：芝麻队　队员：张庭辉、魏孜艺、陈俊龙、王云遥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C0B418-89E5-4721-B2BD-FFD94928C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630555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C7CE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C7CEDB"/>
                </a:solidFill>
                <a:latin typeface="Microsoft YaHei"/>
                <a:ea typeface="Microsoft YaHei"/>
                <a:cs typeface="Microsoft YaHei"/>
              </a:rPr>
              <a:t>01 / 18</a:t>
            </a:r>
          </a:p>
        </p:txBody>
      </p:sp>
    </p:spTree>
    <p:extLst>
      <p:ext uri="{BB962C8B-B14F-4D97-AF65-F5344CB8AC3E}">
        <p14:creationId xmlns:p14="http://schemas.microsoft.com/office/powerpoint/2010/main" val="137149679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e859a8fdb84eb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3E3640-76C2-4C92-95CA-F2C6B101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638300" cy="390525"/>
          </a:xfrm>
          <a:prstGeom xmlns:a="http://schemas.openxmlformats.org/drawingml/2006/main" prst="roundRect">
            <a:avLst>
              <a:gd name="adj" fmla="val 39024"/>
            </a:avLst>
          </a:prstGeom>
          <a:solidFill xmlns:a="http://schemas.openxmlformats.org/drawingml/2006/main">
            <a:srgbClr val="0B1020">
              <a:alpha val="55000"/>
            </a:srgbClr>
          </a:solidFill>
          <a:ln xmlns:a="http://schemas.openxmlformats.org/drawingml/2006/main" w="11430">
            <a:solidFill>
              <a:srgbClr val="7CFFC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EE2587-FC8C-49B4-91AD-91CEAD1D1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项目目录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734A85-DA48-4521-B3D1-EC2BD9F50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5252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从命题目标，到新生训练，再到企业闭环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40E1CC-AD78-4D7A-A4C0-2D130CB83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六个部分，串起项目需求、训练反馈、成长追踪与实际应用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DFA6A4-FEDB-4D42-B129-DA91F8B7D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05050"/>
            <a:ext cx="5143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B1020">
              <a:alpha val="78000"/>
            </a:srgbClr>
          </a:solidFill>
          <a:ln xmlns:a="http://schemas.openxmlformats.org/drawingml/2006/main" w="9525">
            <a:solidFill>
              <a:srgbClr val="F5F7FF">
                <a:alpha val="28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D3EE48-A992-4501-BF22-AEF7FA033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2BC4B7-C6E9-4CEA-9EFA-3718E2C8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438400"/>
            <a:ext cx="3286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项目要求与平台流程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E4537E-9923-445C-B3EB-4DFEAB894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819400"/>
            <a:ext cx="3762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CFD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CFD7E6"/>
                </a:solidFill>
                <a:latin typeface="Microsoft YaHei"/>
                <a:ea typeface="Microsoft YaHei"/>
                <a:cs typeface="Microsoft YaHei"/>
              </a:rPr>
              <a:t>项目目标 · 三端职责 · 总体工作流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8C3701-504B-4F2E-97C0-C88010835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7650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03–05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B0A7C5-FBAB-4563-8869-66F0A9EF9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05050"/>
            <a:ext cx="5143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B1020">
              <a:alpha val="78000"/>
            </a:srgbClr>
          </a:solidFill>
          <a:ln xmlns:a="http://schemas.openxmlformats.org/drawingml/2006/main" w="9525">
            <a:solidFill>
              <a:srgbClr val="F5F7FF">
                <a:alpha val="28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B23C16-3F34-463C-B3FB-FBDE433D4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66975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8B86A5-D883-428B-ABCD-57B538AAD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438400"/>
            <a:ext cx="3286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新生学习与岗位训练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1A5251-EF6C-4CA4-A5D6-7B9E5AE0D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819400"/>
            <a:ext cx="3762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CFD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CFD7E6"/>
                </a:solidFill>
                <a:latin typeface="Microsoft YaHei"/>
                <a:ea typeface="Microsoft YaHei"/>
                <a:cs typeface="Microsoft YaHei"/>
              </a:rPr>
              <a:t>岗位认知 · STAR方法 · 逐题反馈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EBF070-923D-437E-B7FB-D82E85614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47650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06–07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E68EF3-B58E-472D-98C2-F62A52430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5143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B1020">
              <a:alpha val="78000"/>
            </a:srgbClr>
          </a:solidFill>
          <a:ln xmlns:a="http://schemas.openxmlformats.org/drawingml/2006/main" w="9525">
            <a:solidFill>
              <a:srgbClr val="F5F7FF">
                <a:alpha val="28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EF994C-B2F3-4E43-8B6B-E857EFC8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90925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FDF2A1-BCF0-4D31-88B1-7CFBD4F0E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562350"/>
            <a:ext cx="3286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题库配置与模拟面试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0C7747-71C3-41FF-B420-534A22E67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943350"/>
            <a:ext cx="3762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CFD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CFD7E6"/>
                </a:solidFill>
                <a:latin typeface="Microsoft YaHei"/>
                <a:ea typeface="Microsoft YaHei"/>
                <a:cs typeface="Microsoft YaHei"/>
              </a:rPr>
              <a:t>种子岗位 · 六题训练 · 会话推进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197CA4-9F7F-4C3C-B5C1-A05903653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60045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08–09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23D36E-F338-40EE-8363-05D73A7B2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29000"/>
            <a:ext cx="5143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B1020">
              <a:alpha val="78000"/>
            </a:srgbClr>
          </a:solidFill>
          <a:ln xmlns:a="http://schemas.openxmlformats.org/drawingml/2006/main" w="9525">
            <a:solidFill>
              <a:srgbClr val="F5F7FF">
                <a:alpha val="28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AE7867-237F-4ADE-A5DE-816360F11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90925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21D2B1-2852-4BCF-A052-DACDA9F4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562350"/>
            <a:ext cx="3286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语音链路与评分反馈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BAC95C-A7A5-41D6-8F22-25A07F243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943350"/>
            <a:ext cx="3762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CFD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CFD7E6"/>
                </a:solidFill>
                <a:latin typeface="Microsoft YaHei"/>
                <a:ea typeface="Microsoft YaHei"/>
                <a:cs typeface="Microsoft YaHei"/>
              </a:rPr>
              <a:t>语音识别 · 多维评分 · 原话依据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9BF9A2-6434-494A-8CDD-631A3B084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60045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10–11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DF03D3-60B2-4B3F-8ABD-3FA1A3353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5143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B1020">
              <a:alpha val="78000"/>
            </a:srgbClr>
          </a:solidFill>
          <a:ln xmlns:a="http://schemas.openxmlformats.org/drawingml/2006/main" w="9525">
            <a:solidFill>
              <a:srgbClr val="F5F7FF">
                <a:alpha val="28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CAA2A5-CDBE-4F57-BD50-BED7A6827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14875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FCF6C7-77F8-4EB5-892B-7B07C15EB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686300"/>
            <a:ext cx="3286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成长追踪与企业闭环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D2A550-D510-4A17-9380-8631D01CE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067300"/>
            <a:ext cx="3762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CFD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CFD7E6"/>
                </a:solidFill>
                <a:latin typeface="Microsoft YaHei"/>
                <a:ea typeface="Microsoft YaHei"/>
                <a:cs typeface="Microsoft YaHei"/>
              </a:rPr>
              <a:t>同岗历史 · 报告追溯 · 企业初筛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1EB83B-5AE3-471C-A158-872C5B596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72440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12–14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74522C-8623-419A-936D-3F0D1417B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52950"/>
            <a:ext cx="5143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B1020">
              <a:alpha val="78000"/>
            </a:srgbClr>
          </a:solidFill>
          <a:ln xmlns:a="http://schemas.openxmlformats.org/drawingml/2006/main" w="9525">
            <a:solidFill>
              <a:srgbClr val="F5F7FF">
                <a:alpha val="28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20E8AF-622E-4E65-9137-9E6A2D40D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14875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834EBCA-04F8-493C-9037-EC7F93F3E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4686300"/>
            <a:ext cx="3286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技术实现、应用价值与总结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5517FAD-1D4B-4CE8-8C6B-0EA92CB2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5067300"/>
            <a:ext cx="3762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CFD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CFD7E6"/>
                </a:solidFill>
                <a:latin typeface="Microsoft YaHei"/>
                <a:ea typeface="Microsoft YaHei"/>
                <a:cs typeface="Microsoft YaHei"/>
              </a:rPr>
              <a:t>系统架构 · 模型回退 · 项目总结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F637BCB-9A57-40DA-B2E6-6FA2FF4AE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72440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15–18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297574A-CB91-43C0-B446-A4B914AC0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630555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C7CE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C7CEDB"/>
                </a:solidFill>
                <a:latin typeface="Microsoft YaHei"/>
                <a:ea typeface="Microsoft YaHei"/>
                <a:cs typeface="Microsoft YaHei"/>
              </a:rPr>
              <a:t>02 / 18</a:t>
            </a:r>
          </a:p>
        </p:txBody>
      </p:sp>
    </p:spTree>
    <p:extLst>
      <p:ext uri="{BB962C8B-B14F-4D97-AF65-F5344CB8AC3E}">
        <p14:creationId xmlns:p14="http://schemas.microsoft.com/office/powerpoint/2010/main" val="12166450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afb37d634c4f2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666F79-A999-41A6-A763-2CD00053C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BF8251-9682-425D-9756-8763F2FCB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14350"/>
            <a:ext cx="119786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8288" rIns="18288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38222B-FB5C-44FA-B11E-9E6B325E6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命题要求：让训练成果服务学生与企业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70E94D-4A39-45CE-9563-EDADC84AD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03 / 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4788EC-36E9-49BD-A755-3EFEC5760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71675"/>
            <a:ext cx="10620375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58E010-41FA-47E4-9249-89DCA409B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6695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学生端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012AFE-805C-47A3-A49C-16FBBD545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085975"/>
            <a:ext cx="838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新生缺少职业认知，毕业生缺少面试练习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7AF874-F48F-4106-AF9B-1D7E90606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486025"/>
            <a:ext cx="8382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先了解岗位要求，再通过模拟问答获得反馈；</a:t>
            </a:r>
          </a:p>
          <a:p xmlns:a="http://schemas.openxmlformats.org/drawingml/2006/main"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保留训练历史，帮助学生有针对性地练习。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DF2D10-7959-47B3-9C5B-C693A91D3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9925"/>
            <a:ext cx="10620375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471D37-D15A-40D2-8EC5-9EDE181F5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企业端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A26F21-9DDA-425E-97CB-2CB29C179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324225"/>
            <a:ext cx="838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仅凭简历难以看清岗位能力与表达表现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7AFCC8-EC3A-46CA-97D2-E78DE83C1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724275"/>
            <a:ext cx="8382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围绕岗位要求建立题库与考察重点；</a:t>
            </a:r>
          </a:p>
          <a:p xmlns:a="http://schemas.openxmlformats.org/drawingml/2006/main"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结合训练报告比较候选人，并追溯回答依据。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3F6632-195D-454A-A3AA-49AFF8C5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48175"/>
            <a:ext cx="10620375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642E5C-D7FC-4B7E-9252-8178FBB83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4345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项目端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8EBB9C-1D05-46F0-BB49-2D64868B7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562475"/>
            <a:ext cx="838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学生训练与企业筛选缺少衔接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A4BF45-EC2A-462D-9772-8F84BF3D4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962525"/>
            <a:ext cx="8382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将岗位、题目、会话和报告连接起来；</a:t>
            </a:r>
          </a:p>
          <a:p xmlns:a="http://schemas.openxmlformats.org/drawingml/2006/main"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形成可在学校或局域网落地的面试仓方案。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1D75CB-AC49-4024-84F5-223FE9F9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核心目标：学生知道如何改进，企业知道筛选依据来自哪里。</a:t>
            </a:r>
          </a:p>
        </p:txBody>
      </p:sp>
    </p:spTree>
    <p:extLst>
      <p:ext uri="{BB962C8B-B14F-4D97-AF65-F5344CB8AC3E}">
        <p14:creationId xmlns:p14="http://schemas.microsoft.com/office/powerpoint/2010/main" val="14860183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5dbcd213ac4d6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8F1655-4F24-4EBD-A2F5-575EEE930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1DC0E4-BF5E-4B5C-8C2E-4EDBD7F7F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14350"/>
            <a:ext cx="119786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8288" rIns="18288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91C587-29EF-47CA-BCED-9925136B0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平台流程：从岗位要求到训练反馈与初筛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29AF23-295A-4E4E-9A82-19F4E4180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05 / 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9F2DF2-A28C-4B91-BDBC-10C9559BA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66925"/>
            <a:ext cx="18097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B8AC3A-5F34-42B7-A2EB-32773B1C6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62175"/>
            <a:ext cx="1619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岗位要求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AECB6E-1356-43D0-8B39-6DE014ED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52412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>
              <a:alpha val="52000"/>
            </a:srgbClr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065078-D19D-4634-9642-9B183D9A9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7490" y="2252472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5E2A0A-64D3-43A8-98F8-1E6EF354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66925"/>
            <a:ext cx="18097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20D201-B8F8-4334-BD94-0815C8EC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62175"/>
            <a:ext cx="1619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题库配置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20B257-AAA4-41B2-AC58-F125F0040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52412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>
              <a:alpha val="52000"/>
            </a:srgbClr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17F7AB-12CD-4D26-89E4-967D122D5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540" y="2252472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6E158C-7DEE-40E9-B579-FF261DF46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066925"/>
            <a:ext cx="18097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5CF43E-1BF3-42CC-B4AF-88D96ABA2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162175"/>
            <a:ext cx="1619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模拟面试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DFB095-838F-4401-8879-8926B1169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52412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>
              <a:alpha val="52000"/>
            </a:srgbClr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B92B37-8313-441D-96A5-7A8985C34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7590" y="2252472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7DD8C5-774D-4D53-A4C9-E07092705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066925"/>
            <a:ext cx="18097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DF9612-A144-43DB-A61F-C30E3F841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162175"/>
            <a:ext cx="1619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评分报告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30127C-B08E-49B2-A4B4-AC6550032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52412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>
              <a:alpha val="52000"/>
            </a:srgbClr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52995E-30A5-40E7-B6B3-D1D5C044E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2252472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75D96C-E01D-419C-8466-D42C4237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066925"/>
            <a:ext cx="18097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9BC9E3-6393-4284-837C-0973E4439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162175"/>
            <a:ext cx="1619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企业初筛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8950D2-43F3-454D-9E2E-B57A849CC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0425"/>
            <a:ext cx="5095875" cy="2181225"/>
          </a:xfrm>
          <a:prstGeom xmlns:a="http://schemas.openxmlformats.org/drawingml/2006/main" prst="roundRect">
            <a:avLst>
              <a:gd name="adj" fmla="val 3493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D7B54A-0B8A-4AEE-B34E-E8667430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71875"/>
            <a:ext cx="4638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学生如何使用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BAA6AD-59F1-4F37-9E0B-A07CD2905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05275"/>
            <a:ext cx="4638675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新生先做职业咨询，找到适合的训练岗位。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每题回答后查看问题分析和改进建议；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再次训练后，可回看同岗位的历史变化。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777348-B9E0-420E-B6DA-8B8E8980B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00425"/>
            <a:ext cx="5095875" cy="2181225"/>
          </a:xfrm>
          <a:prstGeom xmlns:a="http://schemas.openxmlformats.org/drawingml/2006/main" prst="roundRect">
            <a:avLst>
              <a:gd name="adj" fmla="val 3493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0CA1F8-F320-431E-865F-739898099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71875"/>
            <a:ext cx="4638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企业与项目如何衔接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65535E-5906-45EA-94C3-DBF296716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05275"/>
            <a:ext cx="4638675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企业维护岗位题库和评价重点。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候选数据来自已完成的训练报告；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点击候选项，可回到原会话与报告核对。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583103-9EC6-4DB4-B9C3-E6F3DFFE6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学生复盘与企业初筛使用同一份训练报告，候选记录可追溯到真实会话。</a:t>
            </a:r>
          </a:p>
        </p:txBody>
      </p:sp>
    </p:spTree>
    <p:extLst>
      <p:ext uri="{BB962C8B-B14F-4D97-AF65-F5344CB8AC3E}">
        <p14:creationId xmlns:p14="http://schemas.microsoft.com/office/powerpoint/2010/main" val="13973119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bd19650092433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DB5ACA-887F-4851-B474-D9F788406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7CF50B-D637-40FE-83AB-74143FB07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14350"/>
            <a:ext cx="119786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8288" rIns="18288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3B1DA4-9E53-471C-B604-1F4852CE8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新生咨询：把“学什么”连接到“做什么”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C97EFF-0FCE-4A9A-B570-8D6F380E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06 / 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423AA6-AC73-488F-B31D-E4E49EF00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3619500" cy="3381375"/>
          </a:xfrm>
          <a:prstGeom xmlns:a="http://schemas.openxmlformats.org/drawingml/2006/main" prst="roundRect">
            <a:avLst>
              <a:gd name="adj" fmla="val 2254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CBB369-CAC9-4A07-A3BB-F63BC407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24075"/>
            <a:ext cx="3162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输入：学生基本情况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7B1C9B-A79C-473C-AE29-2B6DB69F8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57475"/>
            <a:ext cx="31623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选择专业、年级与兴趣，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说明当前关注的工作方向。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示例：一年级，喜欢动手测试，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希望了解技术类岗位。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3DA53A-48FB-4807-A733-ECB232E1E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952625"/>
            <a:ext cx="6667500" cy="3381375"/>
          </a:xfrm>
          <a:prstGeom xmlns:a="http://schemas.openxmlformats.org/drawingml/2006/main" prst="roundRect">
            <a:avLst>
              <a:gd name="adj" fmla="val 2254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FFFFAA-91BE-4814-ACAE-7BD8CA545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124075"/>
            <a:ext cx="6210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输出：岗位地图、学习路径与面试准备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729278-0C42-4860-8A05-E46A1BD7E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657475"/>
            <a:ext cx="62103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岗位地图：了解典型任务、岗位要求和推荐理由。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能力差距：对照现有基础，找出建议补的知识与工具。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学习路径示例：打基础 → 学工具 → 做项目 → 岗位训练。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面试学习菜单：题意理解、自我介绍、STAR经历题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（情境、任务、行动、结果）、追问应答和面试反问。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训练入口：从推荐岗位进入模拟面试。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2BE164-BBD4-4CA8-B664-2A704874D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咨询用于认知与规划；只有进入面试并完成训练后，才生成评分报告。</a:t>
            </a:r>
          </a:p>
        </p:txBody>
      </p:sp>
    </p:spTree>
    <p:extLst>
      <p:ext uri="{BB962C8B-B14F-4D97-AF65-F5344CB8AC3E}">
        <p14:creationId xmlns:p14="http://schemas.microsoft.com/office/powerpoint/2010/main" val="135400415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39ce19838f41a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920CBA-C1C1-40F9-A500-87D18CCD8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762125" cy="390525"/>
          </a:xfrm>
          <a:prstGeom xmlns:a="http://schemas.openxmlformats.org/drawingml/2006/main" prst="roundRect">
            <a:avLst>
              <a:gd name="adj" fmla="val 39024"/>
            </a:avLst>
          </a:prstGeom>
          <a:solidFill xmlns:a="http://schemas.openxmlformats.org/drawingml/2006/main">
            <a:srgbClr val="0B1020">
              <a:alpha val="55000"/>
            </a:srgbClr>
          </a:solidFill>
          <a:ln xmlns:a="http://schemas.openxmlformats.org/drawingml/2006/main" w="11430">
            <a:solidFill>
              <a:srgbClr val="7CFFC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EFAB04-82B2-4994-B426-FF1569EEB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"/>
            <a:ext cx="16478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新生端 · 练习系统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212E62-233C-4F46-B774-F0692154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620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新生训练闭环：从学会回答到持续改进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9B0DD9-2897-4A03-85D5-762729ABC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71675"/>
            <a:ext cx="704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练习闭环｜每题反馈都能接回当前题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90534D-11FB-40EF-B1B7-340457339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19350"/>
            <a:ext cx="234315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B1020">
              <a:alpha val="82000"/>
            </a:srgbClr>
          </a:solidFill>
          <a:ln xmlns:a="http://schemas.openxmlformats.org/drawingml/2006/main" w="9525">
            <a:solidFill>
              <a:srgbClr val="F5F7FF">
                <a:alpha val="28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5FA389-0675-4406-B7BB-3D5B53BA5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8127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01  学习菜单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5D8448-7CF5-4A08-89FF-70ADF22A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19425"/>
            <a:ext cx="2076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STAR法则 / 题意理解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自我介绍 / 面试沟通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CC5170-BC0C-43A1-9B7E-DB83A8FA3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19350"/>
            <a:ext cx="234315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B1020">
              <a:alpha val="82000"/>
            </a:srgbClr>
          </a:solidFill>
          <a:ln xmlns:a="http://schemas.openxmlformats.org/drawingml/2006/main" w="9525">
            <a:solidFill>
              <a:srgbClr val="F5F7FF">
                <a:alpha val="28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EAC176-9ACB-4E7F-80DE-182D3FC17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58127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02  岗位模拟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413BF5-2E85-4B29-988B-2201D9150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19425"/>
            <a:ext cx="2076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智驾测试 / 三电系统测试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六题作答 / 语音或文字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EBCFD5-D17F-417F-83BB-058FE20C8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19350"/>
            <a:ext cx="234315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B1020">
              <a:alpha val="82000"/>
            </a:srgbClr>
          </a:solidFill>
          <a:ln xmlns:a="http://schemas.openxmlformats.org/drawingml/2006/main" w="9525">
            <a:solidFill>
              <a:srgbClr val="F5F7FF">
                <a:alpha val="28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754E0D-57C5-480B-A8D2-BC2C8CB3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8127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03  即时反馈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898282-405C-4D29-8FF2-B7722C99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19425"/>
            <a:ext cx="2076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本题练习分 / 未评分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问题分析 / 原话依据 / 建议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198B9B-91F5-46A2-B8A7-3042CA959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19350"/>
            <a:ext cx="234315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B1020">
              <a:alpha val="82000"/>
            </a:srgbClr>
          </a:solidFill>
          <a:ln xmlns:a="http://schemas.openxmlformats.org/drawingml/2006/main" w="9525">
            <a:solidFill>
              <a:srgbClr val="F5F7FF">
                <a:alpha val="28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D78416-32AD-4313-8B2A-F643B420A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8127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04  补学再答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0DA598-E668-4843-81F8-209606389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019425"/>
            <a:ext cx="2076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打开相关知识点学习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返回当前题继续作答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B3D0D6-BE0C-4E85-A09F-90BD5E8D5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765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DD782D-253E-4836-9CA8-22BCBFA12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765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8BF2CF-4440-4943-883E-C1A2F9170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765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BEEC36-BC7A-4344-BCE7-2C7E13243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训练数据闭环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5077CC-260B-4163-AB76-82C3D38F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20955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0B1020">
              <a:alpha val="78000"/>
            </a:srgbClr>
          </a:solidFill>
          <a:ln xmlns:a="http://schemas.openxmlformats.org/drawingml/2006/main" w="9525">
            <a:solidFill>
              <a:srgbClr val="7CFFCB">
                <a:alpha val="62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EE23AE-D8FD-4A99-A72B-561A82ECF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8155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完成真实训练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01586E-3E5F-422F-8D92-10BE84BC1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648200"/>
            <a:ext cx="20955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0B1020">
              <a:alpha val="78000"/>
            </a:srgbClr>
          </a:solidFill>
          <a:ln xmlns:a="http://schemas.openxmlformats.org/drawingml/2006/main" w="9525">
            <a:solidFill>
              <a:srgbClr val="7CFFCB">
                <a:alpha val="62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7D2B49-B824-4F3A-81A7-9132B2F62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78155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生成整场报告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28308F-5760-4854-941F-F9863E94A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648200"/>
            <a:ext cx="20955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0B1020">
              <a:alpha val="78000"/>
            </a:srgbClr>
          </a:solidFill>
          <a:ln xmlns:a="http://schemas.openxmlformats.org/drawingml/2006/main" w="9525">
            <a:solidFill>
              <a:srgbClr val="7CFFCB">
                <a:alpha val="62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69E3F4-0620-403A-9053-3FE400DC4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78155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同岗成长记录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A5DC79-FD2A-4A5E-9100-D720E4277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648200"/>
            <a:ext cx="20955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0B1020">
              <a:alpha val="78000"/>
            </a:srgbClr>
          </a:solidFill>
          <a:ln xmlns:a="http://schemas.openxmlformats.org/drawingml/2006/main" w="9525">
            <a:solidFill>
              <a:srgbClr val="7CFFCB">
                <a:alpha val="62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D704F0-C6AB-481E-A16B-4B4A82A93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78155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企业候选初筛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29604D-01AB-4E44-BFAD-3E429E227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791075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3947A1-B66B-4D7A-BC75-AFA2BB588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791075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0862B4-31A5-4273-9055-CD2CCBF62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791075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456AE65-8DC5-420C-82CE-828905A0C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7690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候选记录可回到原会话与报告核对；岗位咨询本身不生成面试分数。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15012D6-3DC8-4244-9A7E-1968FE634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630555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C7CE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C7CEDB"/>
                </a:solidFill>
                <a:latin typeface="Microsoft YaHei"/>
                <a:ea typeface="Microsoft YaHei"/>
                <a:cs typeface="Microsoft YaHei"/>
              </a:rPr>
              <a:t>07 / 18</a:t>
            </a:r>
          </a:p>
        </p:txBody>
      </p:sp>
    </p:spTree>
    <p:extLst>
      <p:ext uri="{BB962C8B-B14F-4D97-AF65-F5344CB8AC3E}">
        <p14:creationId xmlns:p14="http://schemas.microsoft.com/office/powerpoint/2010/main" val="16704885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94ca85503845b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5AB997-B039-409E-8D7A-9BBDEA10F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E7913D-532A-4E63-AE99-B38B065F9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14350"/>
            <a:ext cx="119786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8288" rIns="18288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2E7AEF-367F-4F34-BA28-530BA512B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岗位配置：将招聘要求整理为可维护的题库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F6FFF2-F81F-4B82-9C71-CA81D16FF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08 / 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14E1B7-AC77-45F8-A2EC-0CB10564F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22288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FFEF84-2AAA-456D-B18D-F40F3CBD1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47875"/>
            <a:ext cx="2038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输入岗位描述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262E6D-5A41-4F03-A121-890130C5E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4003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>
              <a:alpha val="52000"/>
            </a:srgbClr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4C0C22-A966-4EBE-BAF4-7B76C0632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890" y="2128647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DDE14F-F852-46E7-9563-3DEB23AC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952625"/>
            <a:ext cx="22288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5D76F0-9AAB-40FB-919C-A64B8595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047875"/>
            <a:ext cx="2038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生成配置草案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48F172-6F8C-4F68-9C24-03A3E485F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4003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>
              <a:alpha val="52000"/>
            </a:srgbClr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5AFC88-B204-4E0D-BB9D-369BA1F42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7440" y="2128647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69A4B1-9B1F-4920-80E1-91E35C604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952625"/>
            <a:ext cx="22288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2C0087-0DE5-43C0-BDC9-A67D94297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47875"/>
            <a:ext cx="2038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检查并维护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15D884-3BC8-4521-A8B3-CB30D43A4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4003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>
              <a:alpha val="52000"/>
            </a:srgbClr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D18E23-77BC-48F5-95B5-2EC4B3680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3990" y="2128647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91BF66-9CB3-4763-AA76-E1F015863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952625"/>
            <a:ext cx="22288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5C87A5-DAA9-43EF-B243-6F80C5F2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047875"/>
            <a:ext cx="2038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用于岗位训练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F487DF-A51B-4CF1-A54F-E2765CA9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5095875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42FB76-0D89-415D-BBDB-8A0B43F6F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57575"/>
            <a:ext cx="4638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首期岗位：智驾测试 / 三电系统测试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809841-97C6-4FCA-8259-63FEB7E92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463867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岗位要求：能设计用例、记录并复现缺陷。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题目示例：“问题偶发时，你如何定位？”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考察重点：排查步骤、证据记录与风险意识。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企业可维护题目，并调整岗位评价重点。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EF486B-6935-49FB-A62D-BB57B2F4B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86125"/>
            <a:ext cx="5095875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DB2BAD-3D39-4096-A7C4-D5B40C96B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57575"/>
            <a:ext cx="4638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如何落到一场训练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B5E3DA-4C99-4C29-975C-074C259DA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90975"/>
            <a:ext cx="463867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学生选择岗位后，系统读取该岗位题库。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问答围绕岗位任务展开，避免泛泛提问。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完成后生成报告，并纳入该岗位候选比较。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企业可回到原报告核对具体表现。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66F7A2-665A-4877-9B1B-112F5B56C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可维护的是题库内容、岗位评估建议与初筛权重；题目不会只靠固定文案展示。</a:t>
            </a:r>
          </a:p>
        </p:txBody>
      </p:sp>
    </p:spTree>
    <p:extLst>
      <p:ext uri="{BB962C8B-B14F-4D97-AF65-F5344CB8AC3E}">
        <p14:creationId xmlns:p14="http://schemas.microsoft.com/office/powerpoint/2010/main" val="11421605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a7f59bc1bc4cb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76BF19-7C62-42C2-8AE5-915C2547C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65A129-627B-4A02-915F-6592CDFEE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14350"/>
            <a:ext cx="119786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8288" rIns="18288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D35392-F1E0-45CA-9501-C87464D9D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学生面试：六题训练与逐题即时反馈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E43128-E0EE-4696-BC7E-D1DFD7980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09 / 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C520A3-2EA8-4F2C-B827-01FA16254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6667500" cy="3762375"/>
          </a:xfrm>
          <a:prstGeom xmlns:a="http://schemas.openxmlformats.org/drawingml/2006/main" prst="roundRect">
            <a:avLst>
              <a:gd name="adj" fmla="val 2025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CE9FFC-D1CF-42F5-9971-8616B3C5B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24075"/>
            <a:ext cx="6210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一轮训练的操作路径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5EDA79-BD71-4ECA-8EEB-896CEFCCC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57475"/>
            <a:ext cx="62103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选择学生与岗位 → 完成设备自检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回答六道主问题：通用2题、专业3题、情景1题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语音或文字作答；一场会话固定使用一种输入方式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每答一题，立即看本题练习分（或未评分）、问题分析、原话依据和改进建议；去学习后返回继续。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2A81AF-5219-48AA-B593-B6A5E6C8A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038350"/>
            <a:ext cx="3476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服务端管理训练进度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74B7A1-3967-4CE6-B4F9-C4999AEA3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581275"/>
            <a:ext cx="34766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服务端保存当前题目和已提交回答；</a:t>
            </a:r>
          </a:p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刷新页面后可以恢复训练，</a:t>
            </a:r>
          </a:p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不依赖浏览器临时状态。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42AEF6-4DE2-4CC0-A79E-BA185412F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886200"/>
            <a:ext cx="3476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追问由服务端判断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8362BB-5896-435A-9E98-949D720DA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438650"/>
            <a:ext cx="34766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每题最多追问一次，结合本题、</a:t>
            </a:r>
          </a:p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岗位提示和回答决定是否追问；</a:t>
            </a:r>
          </a:p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判断失败时直接进入下一题。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B96781-08A4-4D85-90EC-C648EC018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提交期间锁定按钮；结果不明时先确认状态，不自动重发，避免重复推进。</a:t>
            </a:r>
          </a:p>
        </p:txBody>
      </p:sp>
    </p:spTree>
    <p:extLst>
      <p:ext uri="{BB962C8B-B14F-4D97-AF65-F5344CB8AC3E}">
        <p14:creationId xmlns:p14="http://schemas.microsoft.com/office/powerpoint/2010/main" val="13468832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37d7a6d5144c5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C023A5-E63F-4B90-A263-424A3C79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3C72C8-4A60-4873-9260-836A980D9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14350"/>
            <a:ext cx="119786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8288" rIns="18288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0FFC6B-E755-4562-BE96-7DF460711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语音链路：既理解回答，也分析表达方式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2A4F62-2EDE-4BDC-B514-D5089228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10 / 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F87982-89F8-498F-99F6-992FEFF9A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22288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BEFB6A-AFDD-4F14-A6E8-BB1B713E2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47875"/>
            <a:ext cx="2038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浏览器录音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0AC673-512A-47F7-B46B-502DA75EA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4003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>
              <a:alpha val="52000"/>
            </a:srgbClr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28DC1F-0BC8-403C-8CF3-43C8B3C54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890" y="2128647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828ABD-C9EF-436D-BA5C-88B5208E0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952625"/>
            <a:ext cx="22288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E9D489-151C-4551-9DE0-CBC98E131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047875"/>
            <a:ext cx="2038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音频转码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6CE87C-B91F-406E-9745-13747121A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4003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>
              <a:alpha val="52000"/>
            </a:srgbClr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73CF5A-D117-4075-BF3B-31B2F25A0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7440" y="2128647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26FA82-EF2E-4603-B22A-78179D4FB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952625"/>
            <a:ext cx="22288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44C53C-40EC-4210-B1B4-9B0803978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47875"/>
            <a:ext cx="2038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语音转文字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DB23D5-39A3-481B-961E-A2B706C76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4003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>
              <a:alpha val="52000"/>
            </a:srgbClr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4C940A-8FC4-4F2C-AF88-ADDE29998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3990" y="2128647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C9E522-7BD7-49C1-9738-51FD0E424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952625"/>
            <a:ext cx="22288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2577E6-EAB4-4ED2-9A82-FE1F67C9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047875"/>
            <a:ext cx="2038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生成评分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2FB8AF-2BE7-4699-BCB5-B3B5D2C35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5095875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524B38-0632-4A6C-81E3-6ECC642FD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57575"/>
            <a:ext cx="4638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内容：回答了什么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54C7B4-221A-453A-9EBD-3ACAAB85F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463867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浏览器采集音频，后端转换为 16k 单声道。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ASR 将语音转成文字，供岗位内容评分。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系统引用回答中的原话，解释评分原因；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TTS 负责朗读问题，减少手动操作。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61BCB8-2459-48B1-9DEF-804CD1E39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86125"/>
            <a:ext cx="5095875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76EA69-AFD4-4E89-A16C-F5DECDDDE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57575"/>
            <a:ext cx="4638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表达：回答得怎么样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6971FF-411F-4D2B-AF08-B7869FC81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90975"/>
            <a:ext cx="463867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语速：用文字量与录音时长计算。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停顿：统计持续静音的次数。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口头禅：识别“嗯、那个、就是”等词。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这些量化信息进入表达流畅度的判断。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AA0460-C975-4E53-AF71-AC70F0845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文字模式没有真实录音特征，因此不为语音流畅度补造分数。</a:t>
            </a:r>
          </a:p>
        </p:txBody>
      </p:sp>
    </p:spTree>
    <p:extLst>
      <p:ext uri="{BB962C8B-B14F-4D97-AF65-F5344CB8AC3E}">
        <p14:creationId xmlns:p14="http://schemas.microsoft.com/office/powerpoint/2010/main" val="67747109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d12e8ecefd45f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14FBFC-2644-4C77-9386-0C19AD7B0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EB36CC-C486-438B-AD48-0C3EF9F60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14350"/>
            <a:ext cx="119786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8288" rIns="18288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A9A306-15B9-4672-A3B0-6D921B0A2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评分报告：四项能力有解释，原话依据可核对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833354-5583-4E65-A095-03542ECED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11 / 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49D17F-661C-41A1-89FB-788BE7AB1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43100"/>
            <a:ext cx="674370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1F62C4-D2CF-4BEE-824B-186EACAAD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14550"/>
            <a:ext cx="628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示例：回答原话怎样支撑评分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F811A6-1B7D-49DB-9BC3-66095CD9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47950"/>
            <a:ext cx="628650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说明示例（非真实用户数据）：“我负责整理雨天和逆光片段，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写 Python 脚本统计漏检帧。”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这句话交代了任务、个人职责和所用方法，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可作为理解评分依据。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若想表达更完整，还要补充发现的问题、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处理结果和自己的复盘。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D75D17-0129-494A-A538-ECCD6F852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076450"/>
            <a:ext cx="3476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四项评分维度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77B432-72E4-40B5-B4F1-0D3DB7630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638425"/>
            <a:ext cx="3476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专业匹配：方法对岗</a:t>
            </a:r>
          </a:p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逻辑结构：任务、行动、结果说清</a:t>
            </a:r>
          </a:p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表达：语速、停顿、填充词；素养：安全、协作、责任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2E8E0C-6926-4AAA-8C15-D649B5AE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895725"/>
            <a:ext cx="3476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反馈和报告各有作用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67322C-AF06-44B3-B7BD-43B8AC300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457700"/>
            <a:ext cx="3476625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逐题反馈指出问题和改法；</a:t>
            </a:r>
          </a:p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整场报告汇总四项结果；缺失项</a:t>
            </a:r>
          </a:p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显示“未评估”，文本模式不评语音流畅度。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381A93-36D2-4B2F-96C6-398CB2256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示例回答仅作说明，不代表实测数据；单次模型评分不等同于就业结论。</a:t>
            </a:r>
          </a:p>
        </p:txBody>
      </p:sp>
    </p:spTree>
    <p:extLst>
      <p:ext uri="{BB962C8B-B14F-4D97-AF65-F5344CB8AC3E}">
        <p14:creationId xmlns:p14="http://schemas.microsoft.com/office/powerpoint/2010/main" val="210892852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c05c4f4dc240e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401CC5-65EC-4C0C-A9C1-6C1C0C1F9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B9B01C-2B5F-48D4-860A-2DC79163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14350"/>
            <a:ext cx="119786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8288" rIns="18288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37F5C4-5004-4E54-895D-3C8E9D4E8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成长追踪：按同一学生、同一岗位回看训练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61E986-FE7B-4714-B7AB-F542A0EB0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12 / 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A4B1BA-7D5F-4DBA-BB7F-B7754BDE5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81200"/>
            <a:ext cx="2047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记录可回看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95708F-197D-40E3-B946-BA3914CD3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81200"/>
            <a:ext cx="81724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保存完成时间、岗位和报告入口。</a:t>
            </a:r>
          </a:p>
          <a:p xmlns:a="http://schemas.openxmlformats.org/drawingml/2006/main">
            <a:pPr>
              <a:buNone/>
              <a:def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学生能打开历史报告，查看当时的原话依据与改进建议。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EB2EB0-1BB7-4F76-BC18-3016D9DDC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24175"/>
            <a:ext cx="10429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036C03-2C32-4102-A939-2481C627C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248025"/>
            <a:ext cx="2047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变化有前提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17A6A8-E5D6-478E-A440-0F60A2B89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48025"/>
            <a:ext cx="81724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同一学生、同一岗位才放在一起；文字与语音、不同评分口径不混比。</a:t>
            </a:r>
          </a:p>
          <a:p xmlns:a="http://schemas.openxmlformats.org/drawingml/2006/main">
            <a:pPr>
              <a:buNone/>
              <a:def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只比较两次都有效的项目，缺失数据不补零、不跨缺失点连线。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4DB2AA-72D1-4854-AC39-B0C362F1D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191000"/>
            <a:ext cx="10429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8F7390-F990-4D06-BD8B-784D3F83C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14850"/>
            <a:ext cx="2047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反馈可继续用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AFD431-AF7A-476E-8338-B34EE545E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514850"/>
            <a:ext cx="81724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最近两次可比训练给出分数变化，帮助学生回看本次表现。</a:t>
            </a:r>
          </a:p>
          <a:p xmlns:a="http://schemas.openxmlformats.org/drawingml/2006/main">
            <a:pPr>
              <a:buNone/>
              <a:def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没有记录或只有一次训练时说明原因，不生成虚构趋势。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14C563-640B-414D-B28F-B3F987ED3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457825"/>
            <a:ext cx="10429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7EEEE2-19B0-45A6-99D1-01D43D3B2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“本次比上次变化”描述观测结果，不直接宣称真实能力提高。</a:t>
            </a:r>
          </a:p>
        </p:txBody>
      </p:sp>
    </p:spTree>
    <p:extLst>
      <p:ext uri="{BB962C8B-B14F-4D97-AF65-F5344CB8AC3E}">
        <p14:creationId xmlns:p14="http://schemas.microsoft.com/office/powerpoint/2010/main" val="127756395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358db76c574de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A0D622-A2D2-45C3-8A9C-72B2360A5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E2EDB0-4F08-4D5A-8172-92B9F2B7E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14350"/>
            <a:ext cx="119786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8288" rIns="18288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E70D2F-AE0F-4481-8DE4-54D928C63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企业初筛：按岗位比较候选表现并核对原报告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6D7409-E2FA-495E-9982-120B2E54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13 / 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64FEB9-F11E-428F-A5FD-86F1A437B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71675"/>
            <a:ext cx="6619875" cy="373380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5EE705-0932-48E8-B856-A527CBDD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43125"/>
            <a:ext cx="6162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从岗位要求到候选名单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7B4902-C4D4-4325-931A-11EB9B3E3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76525"/>
            <a:ext cx="6162675" cy="2924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企业选择岗位，查看该岗位下符合条件的训练记录。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每位学生保留最近一份符合资格的报告。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按岗位权重汇总有效评分，再进行候选比较。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点击候选人可查看来源报告，核对评分理由。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6F62D5-5527-4145-882F-207BBB36C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066925"/>
            <a:ext cx="3571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名单从训练数据产生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08222E-83DA-4E93-B1FF-BB77B5527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619375"/>
            <a:ext cx="3571875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学生完成训练后，报告成为</a:t>
            </a:r>
          </a:p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候选记录来源；同人同岗再次</a:t>
            </a:r>
          </a:p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训练后更新，避免重复入列。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AED042-DF7E-47DC-9CE3-15FBE5BF6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14775"/>
            <a:ext cx="3571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排序有明确边界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507FE2-208D-43C8-8ECC-2E076C569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476750"/>
            <a:ext cx="35718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不同岗位与评分口径隔离。</a:t>
            </a:r>
          </a:p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缺失维度不按零分处罚，</a:t>
            </a:r>
          </a:p>
          <a:p xmlns:a="http://schemas.openxmlformats.org/drawingml/2006/main">
            <a:pPr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最终判断保留人工复核。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8762D5-8032-4D82-8681-30B122DA1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企业看到的分数能够追溯到具体会话和报告，不是单独维护的演示排行榜。</a:t>
            </a:r>
          </a:p>
        </p:txBody>
      </p:sp>
    </p:spTree>
    <p:extLst>
      <p:ext uri="{BB962C8B-B14F-4D97-AF65-F5344CB8AC3E}">
        <p14:creationId xmlns:p14="http://schemas.microsoft.com/office/powerpoint/2010/main" val="17146072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7dae9bcdd24a1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9536F5-79DD-42C6-ABBB-D66DE9778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0F4A53-64D5-4F59-B562-B1AE7902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14350"/>
            <a:ext cx="119786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8288" rIns="18288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D388BC-A8D1-4201-B5B8-E80D0349C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项目闭环：候选记录可以回到真实训练报告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827369-E32E-422D-87BF-D60C68C26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14 / 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16A7C5-183E-47E0-928B-D8617CE58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22288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9CC3A3-E76F-4F36-96C8-6D9CD49AE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57400"/>
            <a:ext cx="2038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学生身份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43A915-25A8-452C-80CB-CE0990A39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41935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>
              <a:alpha val="52000"/>
            </a:srgbClr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22A010-31C5-405A-A774-8FC770A1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890" y="2147697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342646-99AE-4089-B7B4-A7E67488F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962150"/>
            <a:ext cx="22288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D962DE-EB50-40EF-937A-E6470449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057400"/>
            <a:ext cx="2038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真实会话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F3E217-B752-477F-9531-DBE9F90F0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41935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>
              <a:alpha val="52000"/>
            </a:srgbClr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92076E-7AD3-4DBE-9261-64D3571C8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7440" y="2147697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9F42B6-F52C-45DF-AF8C-BE0828ECD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962150"/>
            <a:ext cx="22288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BBB064-933F-4C53-9642-2113FAB9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57400"/>
            <a:ext cx="2038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评分报告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9D4B2F-9607-4C88-A604-4A1AAB50D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41935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F">
              <a:alpha val="52000"/>
            </a:srgbClr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AF9EC5-2813-4A23-B3D9-F5AE7FF1F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3990" y="2147697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221DF3-961D-436E-B514-4F9DAD164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962150"/>
            <a:ext cx="22288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7CFFCB">
                <a:alpha val="72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208AEA-9E93-4522-8253-73904863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057400"/>
            <a:ext cx="2038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企业候选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98624D-744A-40CF-8B40-7CBF0DCC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5095875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9643B1-D7F5-4A97-AFE8-F6903BF7D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86150"/>
            <a:ext cx="4638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学生侧：按同一岗位回看训练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B44E72-509B-4BB1-98DF-F0A4C73FB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19550"/>
            <a:ext cx="463867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同一学生同岗训练，可按时间回看报告。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改进建议沿用原报告内容。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新生咨询只给岗位路径，不出面试分数。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成长记录按学生和岗位隔离。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FA60E6-F5BD-4641-BE62-309CD8A59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14700"/>
            <a:ext cx="5095875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0F342B-6AE7-4303-A581-AA31F437E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86150"/>
            <a:ext cx="4638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企业侧：候选结果有来源可核对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1B1738-EEC1-4C10-BDB0-679763287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019550"/>
            <a:ext cx="463867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候选数据来自完成并有报告的训练。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每名学生同岗保留最近一份合格报告。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可打开报告核对回答原文、评分和建议。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同人再训练更新记录，不重复建档。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2B6623-6543-4D1C-80D6-84557934D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学生成长与企业初筛共用已完成训练记录；不使用独立静态排行榜。</a:t>
            </a:r>
          </a:p>
        </p:txBody>
      </p:sp>
    </p:spTree>
    <p:extLst>
      <p:ext uri="{BB962C8B-B14F-4D97-AF65-F5344CB8AC3E}">
        <p14:creationId xmlns:p14="http://schemas.microsoft.com/office/powerpoint/2010/main" val="144086557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6e6192b33e4c4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8AF7F7-0CF2-4A66-8F7F-FC372E50F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2B0514-2608-4F7F-97CC-6F9AA0B06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14350"/>
            <a:ext cx="119786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8288" rIns="18288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982625-C0BC-47D8-943F-7F839800A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系统架构：页面、业务、模型与数据如何衔接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054FD0-CF04-47C6-B890-672273FAB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15 / 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371B2C-D2F2-4D5B-B531-64DE49AFE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33575"/>
            <a:ext cx="10620375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0A1722-03D6-49FE-B1A5-C3ED44388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52650"/>
            <a:ext cx="14763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交互层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736EAA-EC7F-4B3A-A3EF-7A0A8B62E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28825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Next.js · TypeScript · ECharts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62E227-9060-463A-BB3C-1CA50BDD7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400300"/>
            <a:ext cx="8191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岗位选择、语音问答、评分报告、成长曲线与企业看板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EE09A0-265E-41DA-BFD0-7720FA392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86075"/>
            <a:ext cx="10620375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48ED47-0CB7-421E-8080-9C1F2FEC3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05150"/>
            <a:ext cx="14763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业务层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2467CB-811B-4518-9D5A-FC0754922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981325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FastAPI · SQLAlchemy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C059FB-2EB4-480C-9D00-6BA182C6A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352800"/>
            <a:ext cx="8191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服务端推进面试状态，处理咨询、题库、评分与候选查询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58D154-16C4-431B-BE6E-6B4BA9212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38575"/>
            <a:ext cx="10620375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17B847-F1F1-4A43-907B-8AF74C508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57650"/>
            <a:ext cx="14763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智能层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3011D9-1B3C-45AE-91D1-F89FFA224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933825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LLM · ASR · TTS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B886E6-C8CD-45DD-96F6-65F61279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305300"/>
            <a:ext cx="8191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岗位解析与追问、回答理解与评分、语音识别与问题朗读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7843C9-17DB-4A1D-B118-565820E37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91075"/>
            <a:ext cx="10620375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94F52F-C830-468C-9C1F-D8AC31918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10150"/>
            <a:ext cx="14763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数据层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72BE8E-4362-4E98-816F-01D82BD4A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886325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SQLite · 学生、岗位与训练记录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AE1CA8-FD26-4A4C-A048-FDF40AE3D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257800"/>
            <a:ext cx="8191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关联岗位、题目、会话、回答和报告，支持成长回看与候选查询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4CF120-E3A6-4554-9529-91E4C1E22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调用路径：前端 → FastAPI → 模型/语音服务 → SQLite；报告按 session_id 追溯。</a:t>
            </a:r>
          </a:p>
        </p:txBody>
      </p:sp>
    </p:spTree>
    <p:extLst>
      <p:ext uri="{BB962C8B-B14F-4D97-AF65-F5344CB8AC3E}">
        <p14:creationId xmlns:p14="http://schemas.microsoft.com/office/powerpoint/2010/main" val="8906334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dbc7ca6b0e43d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B0C1B6-D08A-41F3-BFC1-7171FA7B8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036385-18FB-4897-A9B8-FCF079382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14350"/>
            <a:ext cx="119786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8288" rIns="18288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A7AB8A-1A65-4AFC-8185-72B3120E9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运行保障：调用失败有备用路径，结果可以核查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2E7BE0-CB4B-489C-AF3C-6DA94262F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16 / 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108602-CA18-4A5A-A222-F53BF034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3286125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C6D4D6-4FF6-4D6D-AFFB-A425E42A3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24075"/>
            <a:ext cx="2828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旗舰模型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4EDEA6-21A9-4994-8B83-DFAF572D1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57475"/>
            <a:ext cx="28289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编排、追问、评分、解析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AF10BB-7205-4455-AA75-7DEB882B2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476500"/>
            <a:ext cx="352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42169A-4270-4AC4-9840-9B3800EE7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52625"/>
            <a:ext cx="3286125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7BF046-BBB1-411C-99E3-4D8A9E07D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124075"/>
            <a:ext cx="2828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Flash 云模型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1A84A1-A1DD-4BEB-B1DC-6B07D4641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657475"/>
            <a:ext cx="28289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主模型失败后尝试回退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348180-00F2-4490-BE9F-DFB5F67D3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476500"/>
            <a:ext cx="352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ADFCBF-E9FD-4FA8-BDE5-50E3DCFAB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52625"/>
            <a:ext cx="3286125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C18887-4E84-4563-9041-CFEF0E841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24075"/>
            <a:ext cx="2828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本地模型（需启用）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1C5659-04CC-460F-AF29-7809BF7E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57475"/>
            <a:ext cx="28289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云端失败时尝试本地模型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87AEAB-62AA-4A61-B916-868EDC338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76650"/>
            <a:ext cx="5095875" cy="2124075"/>
          </a:xfrm>
          <a:prstGeom xmlns:a="http://schemas.openxmlformats.org/drawingml/2006/main" prst="roundRect">
            <a:avLst>
              <a:gd name="adj" fmla="val 3587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A59360-62E9-4B9F-B322-32BB9F7EE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48100"/>
            <a:ext cx="4638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控制等待与失败影响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697ECC-EF32-483A-A581-BFC736CC0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81500"/>
            <a:ext cx="463867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每阶段设总时限，为后续模型保留回退时间。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返回内容先做格式校验，结构错误时重试。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追问判断失败则进入下一题，不阻断训练。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模型名、服务地址和密钥由 .env 配置。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275B5F-483E-4F81-B87E-44CF40C5C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76650"/>
            <a:ext cx="5095875" cy="2124075"/>
          </a:xfrm>
          <a:prstGeom xmlns:a="http://schemas.openxmlformats.org/drawingml/2006/main" prst="roundRect">
            <a:avLst>
              <a:gd name="adj" fmla="val 3587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B6D0C1-6931-413E-9A99-0ECA44EF6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848100"/>
            <a:ext cx="4638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控制评分的可解释性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E43FD3-3B65-4D8C-A37C-948AA3F3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381500"/>
            <a:ext cx="463867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两次独立评估；引用须来自回答原文。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缺失维度保留“未评估”，不编造依据。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记录阶段、模型和时延，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按 token 统计成本，便于排查。</a:t>
            </a:r>
          </a:p>
        </p:txBody>
      </p:sp>
    </p:spTree>
    <p:extLst>
      <p:ext uri="{BB962C8B-B14F-4D97-AF65-F5344CB8AC3E}">
        <p14:creationId xmlns:p14="http://schemas.microsoft.com/office/powerpoint/2010/main" val="188677408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1f4142f44d4e1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D7231E-258A-46D9-9C4C-0D754C478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3239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79C926-9ADD-485A-8020-CEFB35707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14350"/>
            <a:ext cx="119786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8288" rIns="18288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AE959E-FDAF-4E56-A7E5-3A0FB35EE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19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应用价值：把岗位训练、复盘和初筛连起来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D7D715-C7B6-4A67-8130-D297D5A12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17 / 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AFD48D-8045-4218-A2CF-CBC6C8B8F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5095875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63DCA3-576A-42DA-A9D1-9AA9F1196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24075"/>
            <a:ext cx="4638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课堂与就业训练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A29DC4-250F-40CF-B9F8-721DB5967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57475"/>
            <a:ext cx="4638675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职业认知课：用岗位地图理解工作任务。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面试训练课：组织学生按岗位完成模拟问答。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课后复盘：对照原话与建议重写回答。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持续训练：同人同岗回看历史记录与变化。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39911C-271D-45D9-9F67-7D036DD1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52625"/>
            <a:ext cx="5095875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0B1020">
              <a:alpha val="72000"/>
            </a:srgbClr>
          </a:solidFill>
          <a:ln xmlns:a="http://schemas.openxmlformats.org/drawingml/2006/main" w="10478">
            <a:solidFill>
              <a:srgbClr val="F5F7FF">
                <a:alpha val="2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D79037-D08A-478D-A886-3C655915C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24075"/>
            <a:ext cx="4638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企业初筛与实施方式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B2C219-9B0A-4FA1-99FA-F735FD318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57475"/>
            <a:ext cx="4638675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企业维护岗位题库和评价重点。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通过同源报告了解候选人的训练表现。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使用本机或局域网部署组织集中体验。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推广到新岗位时，需要维护题库和领域知识。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EB542F-06A1-4378-AD29-D3075F2C8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7244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由实际功能支撑的三个特点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A7A9D8-E7D5-4E23-BC2D-95E0569FC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334000"/>
            <a:ext cx="10668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智驾与三电种子岗位题库  ·  语音训练统计语速/停顿/填充词  ·  评分引用回答原话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DC1B3C-AB17-4167-B85D-016CABFA3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价值来自训练与筛选流程的衔接；效果仍需结合实际使用持续衡量。</a:t>
            </a:r>
          </a:p>
        </p:txBody>
      </p:sp>
    </p:spTree>
    <p:extLst>
      <p:ext uri="{BB962C8B-B14F-4D97-AF65-F5344CB8AC3E}">
        <p14:creationId xmlns:p14="http://schemas.microsoft.com/office/powerpoint/2010/main" val="36539078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7055d832b9459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89A994-823B-4FEC-B02A-95B1D3FFD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14375"/>
            <a:ext cx="23526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1020">
              <a:alpha val="32000"/>
            </a:srgbClr>
          </a:solidFill>
          <a:ln xmlns:a="http://schemas.openxmlformats.org/drawingml/2006/main" w="13335">
            <a:solidFill>
              <a:srgbClr val="7CFFC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67F1FF-C84A-48B2-A74F-F6DD5D792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2066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项目总结 · 芝麻队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47A520-22CE-42EE-B007-B12D3BDDD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14525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1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1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让学生知道如何改进，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0D124C-6BD5-4F1A-9E6E-0C3A1E41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71775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2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75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让企业看见判断依据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D5D4DB-8839-4831-AC92-FA88BDB0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48125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岗位认知与学习规划 → 模拟面试与反馈 → 成长追踪与企业初筛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5B11FE-A39F-4B37-A082-C93AC1F51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38725"/>
            <a:ext cx="104298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题库围绕岗位维护，训练过程留有记录，评分结果能够追溯。</a:t>
            </a:r>
          </a:p>
          <a:p xmlns:a="http://schemas.openxmlformats.org/drawingml/2006/main">
            <a:pPr>
              <a:buNone/>
              <a:defRPr sz="18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用一条贯通的数据链，形成可落地的 AI 面试仓解决方案。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82B8DE-58AA-4B9B-A711-D3201E51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630555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C7CE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C7CEDB"/>
                </a:solidFill>
                <a:latin typeface="Microsoft YaHei"/>
                <a:ea typeface="Microsoft YaHei"/>
                <a:cs typeface="Microsoft YaHei"/>
              </a:rPr>
              <a:t>18 / 18</a:t>
            </a:r>
          </a:p>
        </p:txBody>
      </p:sp>
    </p:spTree>
    <p:extLst>
      <p:ext uri="{BB962C8B-B14F-4D97-AF65-F5344CB8AC3E}">
        <p14:creationId xmlns:p14="http://schemas.microsoft.com/office/powerpoint/2010/main" val="1661322252"/>
      </p:ext>
    </p:extLst>
  </p:cSld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0" name=""/>
          <p:cNvPicPr>
            <a:picLocks noChangeAspect="1"/>
          </p:cNvPicPr>
          <p:nvPr/>
        </p:nvPicPr>
        <p:blipFill>
          <a:blip r:embed="rId2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a16:creationId xmlns:a16="http://schemas.microsoft.com/office/drawing/2014/main" id="{2B666F79-A999-41A6-A763-2CD00053C31A}"/>
              </a:ext>
            </a:extLst>
          </p:cNvPr>
          <p:cNvSpPr>
            <a:spLocks noGrp="1"/>
          </p:cNvSpPr>
          <p:nvPr/>
        </p:nvSpPr>
        <p:spPr>
          <a:xfrm>
            <a:off x="723900" y="466725"/>
            <a:ext cx="1323975" cy="361950"/>
          </a:xfrm>
          <a:prstGeom prst="roundRect">
            <a:avLst>
              <a:gd name="adj" fmla="val 21053"/>
            </a:avLst>
          </a:prstGeom>
          <a:solidFill>
            <a:srgbClr val="0B1020">
              <a:alpha val="32000"/>
            </a:srgbClr>
          </a:solidFill>
          <a:ln w="13335">
            <a:solidFill>
              <a:srgbClr val="7CFFCB"/>
            </a:solidFill>
            <a:prstDash val="solid"/>
          </a:ln>
        </p:spPr>
        <p:txBody>
          <a:bodyPr/>
          <a:p/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E8BF8251-9682-425D-9756-8763F2FCBE97}"/>
              </a:ext>
            </a:extLst>
          </p:cNvPr>
          <p:cNvSpPr>
            <a:spLocks noGrp="1"/>
          </p:cNvSpPr>
          <p:nvPr/>
        </p:nvSpPr>
        <p:spPr>
          <a:xfrm>
            <a:off x="786384" y="514350"/>
            <a:ext cx="1197864" cy="266700"/>
          </a:xfrm>
          <a:prstGeom prst="rect">
            <a:avLst/>
          </a:prstGeom>
          <a:noFill/>
          <a:ln w="0">
            <a:noFill/>
          </a:ln>
        </p:spPr>
        <p:txBody>
          <a:bodyPr lIns="18288" rIns="18288">
            <a:noAutofit/>
          </a:bodyPr>
          <a:lstStyle/>
          <a:p>
            <a:pPr>
              <a:buNone/>
              <a:def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企业命题 05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6338222B-FB5C-44FA-B11E-9E6B325E6E81}"/>
              </a:ext>
            </a:extLst>
          </p:cNvPr>
          <p:cNvSpPr>
            <a:spLocks noGrp="1"/>
          </p:cNvSpPr>
          <p:nvPr/>
        </p:nvSpPr>
        <p:spPr>
          <a:xfrm>
            <a:off x="723900" y="1019175"/>
            <a:ext cx="10715625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三端协同：同一份训练记录贯通两侧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7670E94D-4A39-45CE-9563-EDADC84AD22C}"/>
              </a:ext>
            </a:extLst>
          </p:cNvPr>
          <p:cNvSpPr>
            <a:spLocks noGrp="1"/>
          </p:cNvSpPr>
          <p:nvPr/>
        </p:nvSpPr>
        <p:spPr>
          <a:xfrm>
            <a:off x="10839450" y="6305550"/>
            <a:ext cx="857250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7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04 / 18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484788EC-36E9-49BD-A755-3EFEC5760F0B}"/>
              </a:ext>
            </a:extLst>
          </p:cNvPr>
          <p:cNvSpPr>
            <a:spLocks noGrp="1"/>
          </p:cNvSpPr>
          <p:nvPr/>
        </p:nvSpPr>
        <p:spPr>
          <a:xfrm>
            <a:off x="762000" y="1971675"/>
            <a:ext cx="10620375" cy="1095375"/>
          </a:xfrm>
          <a:prstGeom prst="roundRect">
            <a:avLst>
              <a:gd name="adj" fmla="val 6957"/>
            </a:avLst>
          </a:prstGeom>
          <a:solidFill>
            <a:srgbClr val="0B1020">
              <a:alpha val="72000"/>
            </a:srgbClr>
          </a:solidFill>
          <a:ln w="10478">
            <a:solidFill>
              <a:srgbClr val="F5F7F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D758E010-41FA-47E4-9249-89DCA409BAC2}"/>
              </a:ext>
            </a:extLst>
          </p:cNvPr>
          <p:cNvSpPr>
            <a:spLocks noGrp="1"/>
          </p:cNvSpPr>
          <p:nvPr/>
        </p:nvSpPr>
        <p:spPr>
          <a:xfrm>
            <a:off x="1009650" y="2266950"/>
            <a:ext cx="1381125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学生端</a:t>
            </a:r>
          </a:p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8E012AFE-805C-47A3-A49C-16FBBD5457CC}"/>
              </a:ext>
            </a:extLst>
          </p:cNvPr>
          <p:cNvSpPr>
            <a:spLocks noGrp="1"/>
          </p:cNvSpPr>
          <p:nvPr/>
        </p:nvSpPr>
        <p:spPr>
          <a:xfrm>
            <a:off x="2667000" y="2085975"/>
            <a:ext cx="83820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岗位认知、模拟问答和成长复盘</a:t>
            </a:r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2A7AF874-F48F-4106-AF9B-1D7E90606D56}"/>
              </a:ext>
            </a:extLst>
          </p:cNvPr>
          <p:cNvSpPr>
            <a:spLocks noGrp="1"/>
          </p:cNvSpPr>
          <p:nvPr/>
        </p:nvSpPr>
        <p:spPr>
          <a:xfrm>
            <a:off x="2667000" y="2486025"/>
            <a:ext cx="8382000" cy="5810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新生通过岗位地图找到训练入口，完成六题问答；</a:t>
            </a:r>
          </a:p>
          <a:p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学生查看反馈与报告，按建议再次训练。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64DF2D10-7959-47B3-9C5B-C693A91D31EF}"/>
              </a:ext>
            </a:extLst>
          </p:cNvPr>
          <p:cNvSpPr>
            <a:spLocks noGrp="1"/>
          </p:cNvSpPr>
          <p:nvPr/>
        </p:nvSpPr>
        <p:spPr>
          <a:xfrm>
            <a:off x="762000" y="3209925"/>
            <a:ext cx="10620375" cy="1095375"/>
          </a:xfrm>
          <a:prstGeom prst="roundRect">
            <a:avLst>
              <a:gd name="adj" fmla="val 6957"/>
            </a:avLst>
          </a:prstGeom>
          <a:solidFill>
            <a:srgbClr val="0B1020">
              <a:alpha val="72000"/>
            </a:srgbClr>
          </a:solidFill>
          <a:ln w="10478">
            <a:solidFill>
              <a:srgbClr val="F5F7F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C6471D37-D15A-40D2-8EC5-9EDE181F5AB1}"/>
              </a:ext>
            </a:extLst>
          </p:cNvPr>
          <p:cNvSpPr>
            <a:spLocks noGrp="1"/>
          </p:cNvSpPr>
          <p:nvPr/>
        </p:nvSpPr>
        <p:spPr>
          <a:xfrm>
            <a:off x="1009650" y="3505200"/>
            <a:ext cx="1381125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企业端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E1A26F21-9DDA-425E-97CB-2CB29C17919A}"/>
              </a:ext>
            </a:extLst>
          </p:cNvPr>
          <p:cNvSpPr>
            <a:spLocks noGrp="1"/>
          </p:cNvSpPr>
          <p:nvPr/>
        </p:nvSpPr>
        <p:spPr>
          <a:xfrm>
            <a:off x="2667000" y="3324225"/>
            <a:ext cx="83820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岗位题库与候选初筛使用真实报告</a:t>
            </a:r>
          </a:p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C07AFCC8-EC3A-46CA-97D2-E78DE83C1BDB}"/>
              </a:ext>
            </a:extLst>
          </p:cNvPr>
          <p:cNvSpPr>
            <a:spLocks noGrp="1"/>
          </p:cNvSpPr>
          <p:nvPr/>
        </p:nvSpPr>
        <p:spPr>
          <a:xfrm>
            <a:off x="2667000" y="3724275"/>
            <a:ext cx="8382000" cy="5810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企业输入岗位描述，维护题库与评价重点；</a:t>
            </a:r>
          </a:p>
          <a:p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比较同岗候选人，打开原会话和报告核对。</a:t>
            </a:r>
          </a:p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CA3F6632-195D-454A-A3AA-49AFF8C54162}"/>
              </a:ext>
            </a:extLst>
          </p:cNvPr>
          <p:cNvSpPr>
            <a:spLocks noGrp="1"/>
          </p:cNvSpPr>
          <p:nvPr/>
        </p:nvSpPr>
        <p:spPr>
          <a:xfrm>
            <a:off x="762000" y="4448175"/>
            <a:ext cx="10620375" cy="1095375"/>
          </a:xfrm>
          <a:prstGeom prst="roundRect">
            <a:avLst>
              <a:gd name="adj" fmla="val 6957"/>
            </a:avLst>
          </a:prstGeom>
          <a:solidFill>
            <a:srgbClr val="0B1020">
              <a:alpha val="72000"/>
            </a:srgbClr>
          </a:solidFill>
          <a:ln w="10478">
            <a:solidFill>
              <a:srgbClr val="F5F7F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1F642E5C-D7FC-4B7E-9252-8178FBB83978}"/>
              </a:ext>
            </a:extLst>
          </p:cNvPr>
          <p:cNvSpPr>
            <a:spLocks noGrp="1"/>
          </p:cNvSpPr>
          <p:nvPr/>
        </p:nvSpPr>
        <p:spPr>
          <a:xfrm>
            <a:off x="1009650" y="4743450"/>
            <a:ext cx="1381125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项目端</a:t>
            </a:r>
          </a:p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068EBB9C-1D05-46F0-BB49-2D64868B77B5}"/>
              </a:ext>
            </a:extLst>
          </p:cNvPr>
          <p:cNvSpPr>
            <a:spLocks noGrp="1"/>
          </p:cNvSpPr>
          <p:nvPr/>
        </p:nvSpPr>
        <p:spPr>
          <a:xfrm>
            <a:off x="2667000" y="4562475"/>
            <a:ext cx="83820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身份、会话、报告串成同一条数据链</a:t>
            </a:r>
          </a:p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A8A4BF45-EC2A-462D-9772-8F84BF3D4F95}"/>
              </a:ext>
            </a:extLst>
          </p:cNvPr>
          <p:cNvSpPr>
            <a:spLocks noGrp="1"/>
          </p:cNvSpPr>
          <p:nvPr/>
        </p:nvSpPr>
        <p:spPr>
          <a:xfrm>
            <a:off x="2667000" y="4962525"/>
            <a:ext cx="8382000" cy="5810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同一学生重复训练归到本人同岗历史；</a:t>
            </a:r>
          </a:p>
          <a:p>
            <a:pPr>
              <a:buNone/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候选记录来自已完成训练，不另建静态榜单。</a:t>
            </a:r>
          </a:p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371D75CB-AC49-4024-84F5-223FE9F9D3AE}"/>
              </a:ext>
            </a:extLst>
          </p:cNvPr>
          <p:cNvSpPr>
            <a:spLocks noGrp="1"/>
          </p:cNvSpPr>
          <p:nvPr/>
        </p:nvSpPr>
        <p:spPr>
          <a:xfrm>
            <a:off x="762000" y="5953125"/>
            <a:ext cx="1057275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CFFCB"/>
                </a:solidFill>
                <a:latin typeface="Microsoft YaHei"/>
                <a:ea typeface="Microsoft YaHei"/>
                <a:cs typeface="Microsoft YaHei"/>
              </a:rPr>
              <a:t>一份真实训练报告：学生用来改进，企业用来核对，项目端负责贯通与留痕。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2026-09-28T15:01:05.4990000Z</dcterms:created>
  <dcterms:modified xsi:type="dcterms:W3CDTF">2026-09-28T15:01:05.4990000Z</dcterms:modified>
</coreProperties>
</file>